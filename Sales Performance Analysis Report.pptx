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Liter"/>
      <p:regular r:id="rId17"/>
    </p:embeddedFont>
    <p:embeddedFont>
      <p:font typeface="Quattrocen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/E72otACXvD6tpxv9SmS10Iiu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Quattrocento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iter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bold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d7b1f4b9c319ed57b5bdea060197886cc2fe2488.jpg" id="13" name="Google Shape;13;p1"/>
          <p:cNvPicPr preferRelativeResize="0"/>
          <p:nvPr/>
        </p:nvPicPr>
        <p:blipFill rotWithShape="1">
          <a:blip r:embed="rId3">
            <a:alphaModFix amt="30000"/>
          </a:blip>
          <a:srcRect b="0" l="18" r="1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-7620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4">
                  <a:alpha val="94901"/>
                </a:srgbClr>
              </a:gs>
              <a:gs pos="50000">
                <a:srgbClr val="1A1D24">
                  <a:alpha val="85098"/>
                </a:srgbClr>
              </a:gs>
              <a:gs pos="100000">
                <a:srgbClr val="00D4AA">
                  <a:alpha val="2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09600" y="1528763"/>
            <a:ext cx="2305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81000" y="2176463"/>
            <a:ext cx="1188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Sales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Analysis Report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81000" y="4310063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58262" y="5138738"/>
            <a:ext cx="40092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</a:t>
            </a:r>
            <a:r>
              <a:rPr b="1" lang="en-US" sz="18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Abdulrahman Mohamed Doma</a:t>
            </a:r>
            <a:br>
              <a:rPr b="1" lang="en-US" sz="18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18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Basant Mohamed Ali</a:t>
            </a:r>
            <a:br>
              <a:rPr b="1" lang="en-US" sz="18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18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Ahmed Khalifa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578469" y="5064369"/>
            <a:ext cx="3086100" cy="341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d7b1f4b9c319ed57b5bdea060197886cc2fe2488.jpg" id="25" name="Google Shape;25;p2"/>
          <p:cNvPicPr preferRelativeResize="0"/>
          <p:nvPr/>
        </p:nvPicPr>
        <p:blipFill rotWithShape="1">
          <a:blip r:embed="rId3">
            <a:alphaModFix amt="30000"/>
          </a:blip>
          <a:srcRect b="0" l="18" r="1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4">
                  <a:alpha val="94901"/>
                </a:srgbClr>
              </a:gs>
              <a:gs pos="50000">
                <a:srgbClr val="1A1D24">
                  <a:alpha val="85098"/>
                </a:srgbClr>
              </a:gs>
              <a:gs pos="100000">
                <a:srgbClr val="00D4AA">
                  <a:alpha val="2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00050" y="1452563"/>
            <a:ext cx="2619375" cy="419100"/>
          </a:xfrm>
          <a:custGeom>
            <a:rect b="b" l="l" r="r" t="t"/>
            <a:pathLst>
              <a:path extrusionOk="0" h="419100" w="2619375">
                <a:moveTo>
                  <a:pt x="0" y="0"/>
                </a:moveTo>
                <a:lnTo>
                  <a:pt x="2619375" y="0"/>
                </a:lnTo>
                <a:lnTo>
                  <a:pt x="26193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1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00050" y="1452563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09600" y="1528763"/>
            <a:ext cx="2305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Data-Driven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81000" y="2150663"/>
            <a:ext cx="1188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Sales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Analysis Report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81000" y="4310063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Comprehensive Data-Driven Insights for Strategic Decision Making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6719" y="5176838"/>
            <a:ext cx="166688" cy="190500"/>
          </a:xfrm>
          <a:custGeom>
            <a:rect b="b" l="l" r="r" t="t"/>
            <a:pathLst>
              <a:path extrusionOk="0" h="190500" w="166688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33425" y="5138738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2011-2014 Analysis Period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035618" y="5176838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64230" y="5138738"/>
            <a:ext cx="2276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Multi-Dimensional Sales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378928" y="378928"/>
            <a:ext cx="11509930" cy="227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3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78928" y="719963"/>
            <a:ext cx="11718340" cy="568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76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Executive Overview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78928" y="1439925"/>
            <a:ext cx="1212569" cy="37893"/>
          </a:xfrm>
          <a:custGeom>
            <a:rect b="b" l="l" r="r" t="t"/>
            <a:pathLst>
              <a:path extrusionOk="0" h="37893" w="1212569">
                <a:moveTo>
                  <a:pt x="0" y="0"/>
                </a:moveTo>
                <a:lnTo>
                  <a:pt x="1212569" y="0"/>
                </a:lnTo>
                <a:lnTo>
                  <a:pt x="1212569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3425" y="1856746"/>
            <a:ext cx="5475506" cy="1079944"/>
          </a:xfrm>
          <a:custGeom>
            <a:rect b="b" l="l" r="r" t="t"/>
            <a:pathLst>
              <a:path extrusionOk="0" h="1079944" w="5475506">
                <a:moveTo>
                  <a:pt x="37893" y="0"/>
                </a:moveTo>
                <a:lnTo>
                  <a:pt x="5399715" y="0"/>
                </a:lnTo>
                <a:cubicBezTo>
                  <a:pt x="5441573" y="0"/>
                  <a:pt x="5475506" y="33933"/>
                  <a:pt x="5475506" y="75790"/>
                </a:cubicBezTo>
                <a:lnTo>
                  <a:pt x="5475506" y="1004154"/>
                </a:lnTo>
                <a:cubicBezTo>
                  <a:pt x="5475506" y="1046012"/>
                  <a:pt x="5441573" y="1079944"/>
                  <a:pt x="5399715" y="1079944"/>
                </a:cubicBez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97874" y="1856746"/>
            <a:ext cx="37893" cy="1079944"/>
          </a:xfrm>
          <a:custGeom>
            <a:rect b="b" l="l" r="r" t="t"/>
            <a:pathLst>
              <a:path extrusionOk="0" h="1079944" w="37893">
                <a:moveTo>
                  <a:pt x="37893" y="0"/>
                </a:moveTo>
                <a:lnTo>
                  <a:pt x="37893" y="0"/>
                </a:lnTo>
                <a:lnTo>
                  <a:pt x="37893" y="1079944"/>
                </a:ln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4177" y="2084103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61882" y="2178834"/>
            <a:ext cx="435767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364140" y="2084103"/>
            <a:ext cx="3656653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Key Performance Indicators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364140" y="2462912"/>
            <a:ext cx="3618760" cy="24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business metrics and financial health assessment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342777" y="1856746"/>
            <a:ext cx="5475506" cy="1079944"/>
          </a:xfrm>
          <a:custGeom>
            <a:rect b="b" l="l" r="r" t="t"/>
            <a:pathLst>
              <a:path extrusionOk="0" h="1079944" w="5475506">
                <a:moveTo>
                  <a:pt x="37893" y="0"/>
                </a:moveTo>
                <a:lnTo>
                  <a:pt x="5399715" y="0"/>
                </a:lnTo>
                <a:cubicBezTo>
                  <a:pt x="5441573" y="0"/>
                  <a:pt x="5475506" y="33933"/>
                  <a:pt x="5475506" y="75790"/>
                </a:cubicBezTo>
                <a:lnTo>
                  <a:pt x="5475506" y="1004154"/>
                </a:lnTo>
                <a:cubicBezTo>
                  <a:pt x="5475506" y="1046012"/>
                  <a:pt x="5441573" y="1079944"/>
                  <a:pt x="5399715" y="1079944"/>
                </a:cubicBez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342777" y="1856746"/>
            <a:ext cx="37893" cy="1079944"/>
          </a:xfrm>
          <a:custGeom>
            <a:rect b="b" l="l" r="r" t="t"/>
            <a:pathLst>
              <a:path extrusionOk="0" h="1079944" w="37893">
                <a:moveTo>
                  <a:pt x="37893" y="0"/>
                </a:moveTo>
                <a:lnTo>
                  <a:pt x="37893" y="0"/>
                </a:lnTo>
                <a:lnTo>
                  <a:pt x="37893" y="1079944"/>
                </a:ln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589080" y="2084103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681088" y="2178834"/>
            <a:ext cx="492606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09042" y="2084103"/>
            <a:ext cx="3514555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Product Category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309042" y="2462912"/>
            <a:ext cx="3476662" cy="24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Sales distribution and category contribution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97874" y="3163929"/>
            <a:ext cx="5475506" cy="1079944"/>
          </a:xfrm>
          <a:custGeom>
            <a:rect b="b" l="l" r="r" t="t"/>
            <a:pathLst>
              <a:path extrusionOk="0" h="1079944" w="5475506">
                <a:moveTo>
                  <a:pt x="37893" y="0"/>
                </a:moveTo>
                <a:lnTo>
                  <a:pt x="5399715" y="0"/>
                </a:lnTo>
                <a:cubicBezTo>
                  <a:pt x="5441573" y="0"/>
                  <a:pt x="5475506" y="33933"/>
                  <a:pt x="5475506" y="75790"/>
                </a:cubicBezTo>
                <a:lnTo>
                  <a:pt x="5475506" y="1004154"/>
                </a:lnTo>
                <a:cubicBezTo>
                  <a:pt x="5475506" y="1046012"/>
                  <a:pt x="5441573" y="1079944"/>
                  <a:pt x="5399715" y="1079944"/>
                </a:cubicBez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97874" y="3163929"/>
            <a:ext cx="37893" cy="1079944"/>
          </a:xfrm>
          <a:custGeom>
            <a:rect b="b" l="l" r="r" t="t"/>
            <a:pathLst>
              <a:path extrusionOk="0" h="1079944" w="37893">
                <a:moveTo>
                  <a:pt x="37893" y="0"/>
                </a:moveTo>
                <a:lnTo>
                  <a:pt x="37893" y="0"/>
                </a:lnTo>
                <a:lnTo>
                  <a:pt x="37893" y="1079944"/>
                </a:ln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4177" y="3391285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4883" y="3486017"/>
            <a:ext cx="492606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364140" y="3391285"/>
            <a:ext cx="3846117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Regional Sales Distribution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364140" y="3770094"/>
            <a:ext cx="3808224" cy="24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Geographic market penetration and growth opportunities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42777" y="3163929"/>
            <a:ext cx="5475506" cy="1079944"/>
          </a:xfrm>
          <a:custGeom>
            <a:rect b="b" l="l" r="r" t="t"/>
            <a:pathLst>
              <a:path extrusionOk="0" h="1079944" w="5475506">
                <a:moveTo>
                  <a:pt x="37893" y="0"/>
                </a:moveTo>
                <a:lnTo>
                  <a:pt x="5399715" y="0"/>
                </a:lnTo>
                <a:cubicBezTo>
                  <a:pt x="5441573" y="0"/>
                  <a:pt x="5475506" y="33933"/>
                  <a:pt x="5475506" y="75790"/>
                </a:cubicBezTo>
                <a:lnTo>
                  <a:pt x="5475506" y="1004154"/>
                </a:lnTo>
                <a:cubicBezTo>
                  <a:pt x="5475506" y="1046012"/>
                  <a:pt x="5441573" y="1079944"/>
                  <a:pt x="5399715" y="1079944"/>
                </a:cubicBez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342777" y="3163929"/>
            <a:ext cx="37893" cy="1079944"/>
          </a:xfrm>
          <a:custGeom>
            <a:rect b="b" l="l" r="r" t="t"/>
            <a:pathLst>
              <a:path extrusionOk="0" h="1079944" w="37893">
                <a:moveTo>
                  <a:pt x="37893" y="0"/>
                </a:moveTo>
                <a:lnTo>
                  <a:pt x="37893" y="0"/>
                </a:lnTo>
                <a:lnTo>
                  <a:pt x="37893" y="1079944"/>
                </a:ln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89080" y="3391285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679904" y="3486017"/>
            <a:ext cx="492606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309042" y="3391285"/>
            <a:ext cx="3410350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Channel Performance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09042" y="3770094"/>
            <a:ext cx="3372457" cy="24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Multi-channel sales effectiveness and optimization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97874" y="4471110"/>
            <a:ext cx="5475506" cy="1079944"/>
          </a:xfrm>
          <a:custGeom>
            <a:rect b="b" l="l" r="r" t="t"/>
            <a:pathLst>
              <a:path extrusionOk="0" h="1079944" w="5475506">
                <a:moveTo>
                  <a:pt x="37893" y="0"/>
                </a:moveTo>
                <a:lnTo>
                  <a:pt x="5399715" y="0"/>
                </a:lnTo>
                <a:cubicBezTo>
                  <a:pt x="5441573" y="0"/>
                  <a:pt x="5475506" y="33933"/>
                  <a:pt x="5475506" y="75790"/>
                </a:cubicBezTo>
                <a:lnTo>
                  <a:pt x="5475506" y="1004154"/>
                </a:lnTo>
                <a:cubicBezTo>
                  <a:pt x="5475506" y="1046012"/>
                  <a:pt x="5441573" y="1079944"/>
                  <a:pt x="5399715" y="1079944"/>
                </a:cubicBez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97874" y="4471110"/>
            <a:ext cx="37893" cy="1079944"/>
          </a:xfrm>
          <a:custGeom>
            <a:rect b="b" l="l" r="r" t="t"/>
            <a:pathLst>
              <a:path extrusionOk="0" h="1079944" w="37893">
                <a:moveTo>
                  <a:pt x="37893" y="0"/>
                </a:moveTo>
                <a:lnTo>
                  <a:pt x="37893" y="0"/>
                </a:lnTo>
                <a:lnTo>
                  <a:pt x="37893" y="1079944"/>
                </a:ln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4177" y="4698467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36896" y="4793199"/>
            <a:ext cx="483133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364140" y="4698467"/>
            <a:ext cx="3675599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Temporal Trends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364140" y="5077277"/>
            <a:ext cx="3637706" cy="24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Seasonal patterns and year-over-year growth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342777" y="4471110"/>
            <a:ext cx="5475506" cy="1079944"/>
          </a:xfrm>
          <a:custGeom>
            <a:rect b="b" l="l" r="r" t="t"/>
            <a:pathLst>
              <a:path extrusionOk="0" h="1079944" w="5475506">
                <a:moveTo>
                  <a:pt x="37893" y="0"/>
                </a:moveTo>
                <a:lnTo>
                  <a:pt x="5399715" y="0"/>
                </a:lnTo>
                <a:cubicBezTo>
                  <a:pt x="5441573" y="0"/>
                  <a:pt x="5475506" y="33933"/>
                  <a:pt x="5475506" y="75790"/>
                </a:cubicBezTo>
                <a:lnTo>
                  <a:pt x="5475506" y="1004154"/>
                </a:lnTo>
                <a:cubicBezTo>
                  <a:pt x="5475506" y="1046012"/>
                  <a:pt x="5441573" y="1079944"/>
                  <a:pt x="5399715" y="1079944"/>
                </a:cubicBez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342777" y="4471110"/>
            <a:ext cx="37893" cy="1079944"/>
          </a:xfrm>
          <a:custGeom>
            <a:rect b="b" l="l" r="r" t="t"/>
            <a:pathLst>
              <a:path extrusionOk="0" h="1079944" w="37893">
                <a:moveTo>
                  <a:pt x="37893" y="0"/>
                </a:moveTo>
                <a:lnTo>
                  <a:pt x="37893" y="0"/>
                </a:lnTo>
                <a:lnTo>
                  <a:pt x="37893" y="1079944"/>
                </a:ln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589080" y="4698467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678601" y="4793199"/>
            <a:ext cx="492606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309042" y="4698467"/>
            <a:ext cx="3637706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Brand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09042" y="5077277"/>
            <a:ext cx="3599814" cy="24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Brand ranking by sales volume and market positioning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97874" y="5778293"/>
            <a:ext cx="11415198" cy="990060"/>
          </a:xfrm>
          <a:custGeom>
            <a:rect b="b" l="l" r="r" t="t"/>
            <a:pathLst>
              <a:path extrusionOk="0" h="1079944" w="11415198">
                <a:moveTo>
                  <a:pt x="37893" y="0"/>
                </a:moveTo>
                <a:lnTo>
                  <a:pt x="11339408" y="0"/>
                </a:lnTo>
                <a:cubicBezTo>
                  <a:pt x="11381266" y="0"/>
                  <a:pt x="11415198" y="33933"/>
                  <a:pt x="11415198" y="75790"/>
                </a:cubicBezTo>
                <a:lnTo>
                  <a:pt x="11415198" y="1004154"/>
                </a:lnTo>
                <a:cubicBezTo>
                  <a:pt x="11415198" y="1046012"/>
                  <a:pt x="11381266" y="1079944"/>
                  <a:pt x="11339408" y="1079944"/>
                </a:cubicBez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97874" y="5778293"/>
            <a:ext cx="55551" cy="990060"/>
          </a:xfrm>
          <a:custGeom>
            <a:rect b="b" l="l" r="r" t="t"/>
            <a:pathLst>
              <a:path extrusionOk="0" h="1079944" w="37893">
                <a:moveTo>
                  <a:pt x="37893" y="0"/>
                </a:moveTo>
                <a:lnTo>
                  <a:pt x="37893" y="0"/>
                </a:lnTo>
                <a:lnTo>
                  <a:pt x="37893" y="1079944"/>
                </a:lnTo>
                <a:lnTo>
                  <a:pt x="37893" y="1079944"/>
                </a:lnTo>
                <a:cubicBezTo>
                  <a:pt x="16965" y="1079944"/>
                  <a:pt x="0" y="1062979"/>
                  <a:pt x="0" y="104205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44177" y="6005650"/>
            <a:ext cx="530499" cy="530499"/>
          </a:xfrm>
          <a:custGeom>
            <a:rect b="b" l="l" r="r" t="t"/>
            <a:pathLst>
              <a:path extrusionOk="0" h="530499" w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46014" y="6100382"/>
            <a:ext cx="473660" cy="34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8">
                <a:solidFill>
                  <a:srgbClr val="FF6B6B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64140" y="6005650"/>
            <a:ext cx="4461874" cy="303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9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Strategic Insights &amp; Recommendations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364140" y="6384459"/>
            <a:ext cx="4423981" cy="24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Actionable strategies for sustainable growth and market expansion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Executive Summary: Key Performance Indicators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81000" y="1257300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84810" y="1527810"/>
            <a:ext cx="2731770" cy="2341245"/>
          </a:xfrm>
          <a:custGeom>
            <a:rect b="b" l="l" r="r" t="t"/>
            <a:pathLst>
              <a:path extrusionOk="0" h="2341245" w="2731770">
                <a:moveTo>
                  <a:pt x="76208" y="0"/>
                </a:moveTo>
                <a:lnTo>
                  <a:pt x="2655562" y="0"/>
                </a:lnTo>
                <a:cubicBezTo>
                  <a:pt x="2697651" y="0"/>
                  <a:pt x="2731770" y="34119"/>
                  <a:pt x="2731770" y="76208"/>
                </a:cubicBezTo>
                <a:lnTo>
                  <a:pt x="2731770" y="2265037"/>
                </a:lnTo>
                <a:cubicBezTo>
                  <a:pt x="2731770" y="2307126"/>
                  <a:pt x="2697651" y="2341245"/>
                  <a:pt x="2655562" y="2341245"/>
                </a:cubicBezTo>
                <a:lnTo>
                  <a:pt x="76208" y="2341245"/>
                </a:lnTo>
                <a:cubicBezTo>
                  <a:pt x="34119" y="2341245"/>
                  <a:pt x="0" y="2307126"/>
                  <a:pt x="0" y="226503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70798" y="1722120"/>
            <a:ext cx="178594" cy="285750"/>
          </a:xfrm>
          <a:custGeom>
            <a:rect b="b" l="l" r="r" t="t"/>
            <a:pathLst>
              <a:path extrusionOk="0" h="285750" w="178594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50608" y="1750695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Sales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79120" y="2122170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$8bn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79120" y="3364230"/>
            <a:ext cx="2343150" cy="7620"/>
          </a:xfrm>
          <a:custGeom>
            <a:rect b="b" l="l" r="r" t="t"/>
            <a:pathLst>
              <a:path extrusionOk="0" h="7620" w="234315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79120" y="3482340"/>
            <a:ext cx="2409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across all channels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80410" y="1527810"/>
            <a:ext cx="2731770" cy="2341245"/>
          </a:xfrm>
          <a:custGeom>
            <a:rect b="b" l="l" r="r" t="t"/>
            <a:pathLst>
              <a:path extrusionOk="0" h="2341245" w="2731770">
                <a:moveTo>
                  <a:pt x="76208" y="0"/>
                </a:moveTo>
                <a:lnTo>
                  <a:pt x="2655562" y="0"/>
                </a:lnTo>
                <a:cubicBezTo>
                  <a:pt x="2697651" y="0"/>
                  <a:pt x="2731770" y="34119"/>
                  <a:pt x="2731770" y="76208"/>
                </a:cubicBezTo>
                <a:lnTo>
                  <a:pt x="2731770" y="2265037"/>
                </a:lnTo>
                <a:cubicBezTo>
                  <a:pt x="2731770" y="2307126"/>
                  <a:pt x="2697651" y="2341245"/>
                  <a:pt x="2655562" y="2341245"/>
                </a:cubicBezTo>
                <a:lnTo>
                  <a:pt x="76208" y="2341245"/>
                </a:lnTo>
                <a:cubicBezTo>
                  <a:pt x="34119" y="2341245"/>
                  <a:pt x="0" y="2307126"/>
                  <a:pt x="0" y="226503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494961" y="1722120"/>
            <a:ext cx="321469" cy="285750"/>
          </a:xfrm>
          <a:custGeom>
            <a:rect b="b" l="l" r="r" t="t"/>
            <a:pathLst>
              <a:path extrusionOk="0" h="285750" w="321469">
                <a:moveTo>
                  <a:pt x="285973" y="133945"/>
                </a:moveTo>
                <a:lnTo>
                  <a:pt x="187747" y="133945"/>
                </a:lnTo>
                <a:cubicBezTo>
                  <a:pt x="177868" y="133945"/>
                  <a:pt x="169887" y="125964"/>
                  <a:pt x="169887" y="116086"/>
                </a:cubicBezTo>
                <a:lnTo>
                  <a:pt x="169887" y="17859"/>
                </a:lnTo>
                <a:cubicBezTo>
                  <a:pt x="169887" y="7981"/>
                  <a:pt x="177924" y="-112"/>
                  <a:pt x="187691" y="1172"/>
                </a:cubicBezTo>
                <a:cubicBezTo>
                  <a:pt x="247408" y="9097"/>
                  <a:pt x="294735" y="56424"/>
                  <a:pt x="302661" y="116142"/>
                </a:cubicBezTo>
                <a:cubicBezTo>
                  <a:pt x="303944" y="125909"/>
                  <a:pt x="295852" y="133945"/>
                  <a:pt x="285973" y="133945"/>
                </a:cubicBezTo>
                <a:close/>
                <a:moveTo>
                  <a:pt x="124234" y="20762"/>
                </a:moveTo>
                <a:cubicBezTo>
                  <a:pt x="134336" y="18641"/>
                  <a:pt x="143098" y="26901"/>
                  <a:pt x="143098" y="37226"/>
                </a:cubicBezTo>
                <a:lnTo>
                  <a:pt x="143098" y="147340"/>
                </a:lnTo>
                <a:cubicBezTo>
                  <a:pt x="143098" y="150465"/>
                  <a:pt x="144214" y="153479"/>
                  <a:pt x="146168" y="155879"/>
                </a:cubicBezTo>
                <a:lnTo>
                  <a:pt x="219894" y="244841"/>
                </a:lnTo>
                <a:cubicBezTo>
                  <a:pt x="226423" y="252710"/>
                  <a:pt x="225028" y="264598"/>
                  <a:pt x="216043" y="269453"/>
                </a:cubicBezTo>
                <a:cubicBezTo>
                  <a:pt x="197011" y="279834"/>
                  <a:pt x="175189" y="285750"/>
                  <a:pt x="152028" y="285750"/>
                </a:cubicBezTo>
                <a:cubicBezTo>
                  <a:pt x="78079" y="285750"/>
                  <a:pt x="18083" y="225754"/>
                  <a:pt x="18083" y="151805"/>
                </a:cubicBezTo>
                <a:cubicBezTo>
                  <a:pt x="18083" y="87344"/>
                  <a:pt x="63568" y="33542"/>
                  <a:pt x="124234" y="20762"/>
                </a:cubicBezTo>
                <a:close/>
                <a:moveTo>
                  <a:pt x="266663" y="160734"/>
                </a:moveTo>
                <a:lnTo>
                  <a:pt x="302382" y="160734"/>
                </a:lnTo>
                <a:cubicBezTo>
                  <a:pt x="312706" y="160734"/>
                  <a:pt x="320966" y="169497"/>
                  <a:pt x="318846" y="179598"/>
                </a:cubicBezTo>
                <a:cubicBezTo>
                  <a:pt x="313153" y="206611"/>
                  <a:pt x="299312" y="230609"/>
                  <a:pt x="280002" y="248915"/>
                </a:cubicBezTo>
                <a:cubicBezTo>
                  <a:pt x="273137" y="255445"/>
                  <a:pt x="262365" y="254050"/>
                  <a:pt x="256338" y="246738"/>
                </a:cubicBezTo>
                <a:lnTo>
                  <a:pt x="209234" y="189979"/>
                </a:lnTo>
                <a:cubicBezTo>
                  <a:pt x="199579" y="178315"/>
                  <a:pt x="207894" y="160734"/>
                  <a:pt x="222963" y="160734"/>
                </a:cubicBezTo>
                <a:lnTo>
                  <a:pt x="266607" y="160734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946208" y="1750695"/>
            <a:ext cx="790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Profit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474720" y="2122170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$5bn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474720" y="3364230"/>
            <a:ext cx="2343150" cy="7620"/>
          </a:xfrm>
          <a:custGeom>
            <a:rect b="b" l="l" r="r" t="t"/>
            <a:pathLst>
              <a:path extrusionOk="0" h="7620" w="234315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474720" y="3482340"/>
            <a:ext cx="2409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profit after costs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176010" y="1527810"/>
            <a:ext cx="2731770" cy="2341245"/>
          </a:xfrm>
          <a:custGeom>
            <a:rect b="b" l="l" r="r" t="t"/>
            <a:pathLst>
              <a:path extrusionOk="0" h="2341245" w="2731770">
                <a:moveTo>
                  <a:pt x="76208" y="0"/>
                </a:moveTo>
                <a:lnTo>
                  <a:pt x="2655562" y="0"/>
                </a:lnTo>
                <a:cubicBezTo>
                  <a:pt x="2697651" y="0"/>
                  <a:pt x="2731770" y="34119"/>
                  <a:pt x="2731770" y="76208"/>
                </a:cubicBezTo>
                <a:lnTo>
                  <a:pt x="2731770" y="2265037"/>
                </a:lnTo>
                <a:cubicBezTo>
                  <a:pt x="2731770" y="2307126"/>
                  <a:pt x="2697651" y="2341245"/>
                  <a:pt x="2655562" y="2341245"/>
                </a:cubicBezTo>
                <a:lnTo>
                  <a:pt x="76208" y="2341245"/>
                </a:lnTo>
                <a:cubicBezTo>
                  <a:pt x="34119" y="2341245"/>
                  <a:pt x="0" y="2307126"/>
                  <a:pt x="0" y="226503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426279" y="1722120"/>
            <a:ext cx="250031" cy="285750"/>
          </a:xfrm>
          <a:custGeom>
            <a:rect b="b" l="l" r="r" t="t"/>
            <a:pathLst>
              <a:path extrusionOk="0" h="285750" w="250031">
                <a:moveTo>
                  <a:pt x="107156" y="71438"/>
                </a:moveTo>
                <a:cubicBezTo>
                  <a:pt x="107156" y="41867"/>
                  <a:pt x="83149" y="17859"/>
                  <a:pt x="53578" y="17859"/>
                </a:cubicBezTo>
                <a:cubicBezTo>
                  <a:pt x="24008" y="17859"/>
                  <a:pt x="0" y="41867"/>
                  <a:pt x="0" y="71438"/>
                </a:cubicBezTo>
                <a:cubicBezTo>
                  <a:pt x="0" y="101008"/>
                  <a:pt x="24008" y="125016"/>
                  <a:pt x="53578" y="125016"/>
                </a:cubicBezTo>
                <a:cubicBezTo>
                  <a:pt x="83149" y="125016"/>
                  <a:pt x="107156" y="101008"/>
                  <a:pt x="107156" y="71438"/>
                </a:cubicBezTo>
                <a:close/>
                <a:moveTo>
                  <a:pt x="250031" y="214313"/>
                </a:moveTo>
                <a:cubicBezTo>
                  <a:pt x="250031" y="184742"/>
                  <a:pt x="226024" y="160734"/>
                  <a:pt x="196453" y="160734"/>
                </a:cubicBezTo>
                <a:cubicBezTo>
                  <a:pt x="166883" y="160734"/>
                  <a:pt x="142875" y="184742"/>
                  <a:pt x="142875" y="214313"/>
                </a:cubicBezTo>
                <a:cubicBezTo>
                  <a:pt x="142875" y="243883"/>
                  <a:pt x="166883" y="267891"/>
                  <a:pt x="196453" y="267891"/>
                </a:cubicBezTo>
                <a:cubicBezTo>
                  <a:pt x="226024" y="267891"/>
                  <a:pt x="250031" y="243883"/>
                  <a:pt x="250031" y="214313"/>
                </a:cubicBezTo>
                <a:close/>
                <a:moveTo>
                  <a:pt x="244785" y="48332"/>
                </a:moveTo>
                <a:cubicBezTo>
                  <a:pt x="251761" y="41356"/>
                  <a:pt x="251761" y="30026"/>
                  <a:pt x="244785" y="23050"/>
                </a:cubicBezTo>
                <a:cubicBezTo>
                  <a:pt x="237809" y="16073"/>
                  <a:pt x="226479" y="16073"/>
                  <a:pt x="219503" y="23050"/>
                </a:cubicBezTo>
                <a:lnTo>
                  <a:pt x="5190" y="237362"/>
                </a:lnTo>
                <a:cubicBezTo>
                  <a:pt x="-1786" y="244339"/>
                  <a:pt x="-1786" y="255668"/>
                  <a:pt x="5190" y="262644"/>
                </a:cubicBezTo>
                <a:cubicBezTo>
                  <a:pt x="12167" y="269621"/>
                  <a:pt x="23496" y="269621"/>
                  <a:pt x="30473" y="262644"/>
                </a:cubicBezTo>
                <a:lnTo>
                  <a:pt x="244785" y="48332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841807" y="1750695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Profit Margin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370320" y="2122170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57%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370320" y="3364230"/>
            <a:ext cx="2343150" cy="7620"/>
          </a:xfrm>
          <a:custGeom>
            <a:rect b="b" l="l" r="r" t="t"/>
            <a:pathLst>
              <a:path extrusionOk="0" h="7620" w="234315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370320" y="3482340"/>
            <a:ext cx="2409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Industry-leading efficiency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071610" y="1527810"/>
            <a:ext cx="2731770" cy="2341245"/>
          </a:xfrm>
          <a:custGeom>
            <a:rect b="b" l="l" r="r" t="t"/>
            <a:pathLst>
              <a:path extrusionOk="0" h="2341245" w="2731770">
                <a:moveTo>
                  <a:pt x="76208" y="0"/>
                </a:moveTo>
                <a:lnTo>
                  <a:pt x="2655562" y="0"/>
                </a:lnTo>
                <a:cubicBezTo>
                  <a:pt x="2697651" y="0"/>
                  <a:pt x="2731770" y="34119"/>
                  <a:pt x="2731770" y="76208"/>
                </a:cubicBezTo>
                <a:lnTo>
                  <a:pt x="2731770" y="2265037"/>
                </a:lnTo>
                <a:cubicBezTo>
                  <a:pt x="2731770" y="2307126"/>
                  <a:pt x="2697651" y="2341245"/>
                  <a:pt x="2655562" y="2341245"/>
                </a:cubicBezTo>
                <a:lnTo>
                  <a:pt x="76208" y="2341245"/>
                </a:lnTo>
                <a:cubicBezTo>
                  <a:pt x="34119" y="2341245"/>
                  <a:pt x="0" y="2307126"/>
                  <a:pt x="0" y="226503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304020" y="1722120"/>
            <a:ext cx="285750" cy="285750"/>
          </a:xfrm>
          <a:custGeom>
            <a:rect b="b" l="l" r="r" t="t"/>
            <a:pathLst>
              <a:path extrusionOk="0" h="285750" w="285750">
                <a:moveTo>
                  <a:pt x="125016" y="0"/>
                </a:moveTo>
                <a:lnTo>
                  <a:pt x="125016" y="35719"/>
                </a:lnTo>
                <a:cubicBezTo>
                  <a:pt x="125016" y="40630"/>
                  <a:pt x="129034" y="44648"/>
                  <a:pt x="133945" y="44648"/>
                </a:cubicBezTo>
                <a:lnTo>
                  <a:pt x="151805" y="44648"/>
                </a:lnTo>
                <a:cubicBezTo>
                  <a:pt x="156716" y="44648"/>
                  <a:pt x="160734" y="40630"/>
                  <a:pt x="160734" y="35719"/>
                </a:cubicBezTo>
                <a:lnTo>
                  <a:pt x="160734" y="0"/>
                </a:lnTo>
                <a:lnTo>
                  <a:pt x="178594" y="0"/>
                </a:lnTo>
                <a:cubicBezTo>
                  <a:pt x="198295" y="0"/>
                  <a:pt x="214313" y="16018"/>
                  <a:pt x="214313" y="35719"/>
                </a:cubicBezTo>
                <a:lnTo>
                  <a:pt x="214313" y="107156"/>
                </a:lnTo>
                <a:cubicBezTo>
                  <a:pt x="214313" y="110226"/>
                  <a:pt x="213922" y="113240"/>
                  <a:pt x="213196" y="116086"/>
                </a:cubicBezTo>
                <a:lnTo>
                  <a:pt x="72554" y="116086"/>
                </a:lnTo>
                <a:cubicBezTo>
                  <a:pt x="71828" y="113240"/>
                  <a:pt x="71438" y="110226"/>
                  <a:pt x="71438" y="107156"/>
                </a:cubicBezTo>
                <a:lnTo>
                  <a:pt x="71438" y="35719"/>
                </a:lnTo>
                <a:cubicBezTo>
                  <a:pt x="71438" y="16018"/>
                  <a:pt x="87455" y="0"/>
                  <a:pt x="107156" y="0"/>
                </a:cubicBezTo>
                <a:lnTo>
                  <a:pt x="125016" y="0"/>
                </a:lnTo>
                <a:close/>
                <a:moveTo>
                  <a:pt x="178594" y="285750"/>
                </a:moveTo>
                <a:cubicBezTo>
                  <a:pt x="172343" y="285750"/>
                  <a:pt x="166427" y="284131"/>
                  <a:pt x="161292" y="281285"/>
                </a:cubicBezTo>
                <a:cubicBezTo>
                  <a:pt x="166594" y="272076"/>
                  <a:pt x="169664" y="261417"/>
                  <a:pt x="169664" y="250031"/>
                </a:cubicBezTo>
                <a:lnTo>
                  <a:pt x="169664" y="178594"/>
                </a:lnTo>
                <a:cubicBezTo>
                  <a:pt x="169664" y="167208"/>
                  <a:pt x="166594" y="156549"/>
                  <a:pt x="161292" y="147340"/>
                </a:cubicBezTo>
                <a:cubicBezTo>
                  <a:pt x="166427" y="144494"/>
                  <a:pt x="172287" y="142875"/>
                  <a:pt x="178594" y="142875"/>
                </a:cubicBezTo>
                <a:lnTo>
                  <a:pt x="196453" y="142875"/>
                </a:lnTo>
                <a:lnTo>
                  <a:pt x="196453" y="178594"/>
                </a:lnTo>
                <a:cubicBezTo>
                  <a:pt x="196453" y="183505"/>
                  <a:pt x="200471" y="187523"/>
                  <a:pt x="205383" y="187523"/>
                </a:cubicBezTo>
                <a:lnTo>
                  <a:pt x="223242" y="187523"/>
                </a:lnTo>
                <a:cubicBezTo>
                  <a:pt x="228154" y="187523"/>
                  <a:pt x="232172" y="183505"/>
                  <a:pt x="232172" y="178594"/>
                </a:cubicBezTo>
                <a:lnTo>
                  <a:pt x="232172" y="142875"/>
                </a:lnTo>
                <a:lnTo>
                  <a:pt x="250031" y="142875"/>
                </a:lnTo>
                <a:cubicBezTo>
                  <a:pt x="269732" y="142875"/>
                  <a:pt x="285750" y="158893"/>
                  <a:pt x="285750" y="178594"/>
                </a:cubicBezTo>
                <a:lnTo>
                  <a:pt x="285750" y="250031"/>
                </a:lnTo>
                <a:cubicBezTo>
                  <a:pt x="285750" y="269732"/>
                  <a:pt x="269732" y="285750"/>
                  <a:pt x="250031" y="285750"/>
                </a:cubicBezTo>
                <a:lnTo>
                  <a:pt x="178594" y="285750"/>
                </a:lnTo>
                <a:close/>
                <a:moveTo>
                  <a:pt x="0" y="178594"/>
                </a:moveTo>
                <a:cubicBezTo>
                  <a:pt x="0" y="158893"/>
                  <a:pt x="16018" y="142875"/>
                  <a:pt x="35719" y="142875"/>
                </a:cubicBezTo>
                <a:lnTo>
                  <a:pt x="53578" y="142875"/>
                </a:lnTo>
                <a:lnTo>
                  <a:pt x="53578" y="178594"/>
                </a:lnTo>
                <a:cubicBezTo>
                  <a:pt x="53578" y="183505"/>
                  <a:pt x="57596" y="187523"/>
                  <a:pt x="62508" y="187523"/>
                </a:cubicBezTo>
                <a:lnTo>
                  <a:pt x="80367" y="187523"/>
                </a:lnTo>
                <a:cubicBezTo>
                  <a:pt x="85279" y="187523"/>
                  <a:pt x="89297" y="183505"/>
                  <a:pt x="89297" y="178594"/>
                </a:cubicBezTo>
                <a:lnTo>
                  <a:pt x="89297" y="142875"/>
                </a:lnTo>
                <a:lnTo>
                  <a:pt x="107156" y="142875"/>
                </a:lnTo>
                <a:cubicBezTo>
                  <a:pt x="126857" y="142875"/>
                  <a:pt x="142875" y="158893"/>
                  <a:pt x="142875" y="178594"/>
                </a:cubicBezTo>
                <a:lnTo>
                  <a:pt x="142875" y="250031"/>
                </a:lnTo>
                <a:cubicBezTo>
                  <a:pt x="142875" y="269732"/>
                  <a:pt x="126857" y="285750"/>
                  <a:pt x="107156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78594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737407" y="1750695"/>
            <a:ext cx="100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Quantity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265920" y="2122170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37M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265920" y="3364230"/>
            <a:ext cx="2343150" cy="7620"/>
          </a:xfrm>
          <a:custGeom>
            <a:rect b="b" l="l" r="r" t="t"/>
            <a:pathLst>
              <a:path extrusionOk="0" h="7620" w="234315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265920" y="3482340"/>
            <a:ext cx="2409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Units sold globally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00050" y="4061460"/>
            <a:ext cx="3686175" cy="1409700"/>
          </a:xfrm>
          <a:custGeom>
            <a:rect b="b" l="l" r="r" t="t"/>
            <a:pathLst>
              <a:path extrusionOk="0" h="1409700" w="3686175">
                <a:moveTo>
                  <a:pt x="38100" y="0"/>
                </a:moveTo>
                <a:lnTo>
                  <a:pt x="3609981" y="0"/>
                </a:lnTo>
                <a:cubicBezTo>
                  <a:pt x="3652033" y="0"/>
                  <a:pt x="3686175" y="34142"/>
                  <a:pt x="3686175" y="76194"/>
                </a:cubicBezTo>
                <a:lnTo>
                  <a:pt x="3686175" y="1333506"/>
                </a:lnTo>
                <a:cubicBezTo>
                  <a:pt x="3686175" y="1375587"/>
                  <a:pt x="3652062" y="1409700"/>
                  <a:pt x="3609981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00050" y="4061460"/>
            <a:ext cx="38100" cy="1409700"/>
          </a:xfrm>
          <a:custGeom>
            <a:rect b="b" l="l" r="r" t="t"/>
            <a:pathLst>
              <a:path extrusionOk="0" h="1409700" w="381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09600" y="4251960"/>
            <a:ext cx="1009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Orders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613071" y="4271010"/>
            <a:ext cx="285750" cy="228600"/>
          </a:xfrm>
          <a:custGeom>
            <a:rect b="b" l="l" r="r" t="t"/>
            <a:pathLst>
              <a:path extrusionOk="0" h="228600" w="28575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09600" y="4632961"/>
            <a:ext cx="34575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628K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09600" y="5090161"/>
            <a:ext cx="33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 volume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260771" y="4061460"/>
            <a:ext cx="3686175" cy="1409700"/>
          </a:xfrm>
          <a:custGeom>
            <a:rect b="b" l="l" r="r" t="t"/>
            <a:pathLst>
              <a:path extrusionOk="0" h="1409700" w="3686175">
                <a:moveTo>
                  <a:pt x="38100" y="0"/>
                </a:moveTo>
                <a:lnTo>
                  <a:pt x="3609981" y="0"/>
                </a:lnTo>
                <a:cubicBezTo>
                  <a:pt x="3652033" y="0"/>
                  <a:pt x="3686175" y="34142"/>
                  <a:pt x="3686175" y="76194"/>
                </a:cubicBezTo>
                <a:lnTo>
                  <a:pt x="3686175" y="1333506"/>
                </a:lnTo>
                <a:cubicBezTo>
                  <a:pt x="3686175" y="1375587"/>
                  <a:pt x="3652062" y="1409700"/>
                  <a:pt x="3609981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260771" y="4061460"/>
            <a:ext cx="38100" cy="1409700"/>
          </a:xfrm>
          <a:custGeom>
            <a:rect b="b" l="l" r="r" t="t"/>
            <a:pathLst>
              <a:path extrusionOk="0" h="1409700" w="381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470321" y="4251960"/>
            <a:ext cx="103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Return Value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502486" y="4271010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8575"/>
                </a:moveTo>
                <a:cubicBezTo>
                  <a:pt x="88940" y="28575"/>
                  <a:pt x="66124" y="39603"/>
                  <a:pt x="50408" y="57150"/>
                </a:cubicBezTo>
                <a:lnTo>
                  <a:pt x="71438" y="57150"/>
                </a:lnTo>
                <a:cubicBezTo>
                  <a:pt x="79340" y="57150"/>
                  <a:pt x="85725" y="63535"/>
                  <a:pt x="85725" y="71438"/>
                </a:cubicBezTo>
                <a:cubicBezTo>
                  <a:pt x="85725" y="79340"/>
                  <a:pt x="79340" y="85725"/>
                  <a:pt x="71438" y="85725"/>
                </a:cubicBezTo>
                <a:lnTo>
                  <a:pt x="14288" y="85725"/>
                </a:lnTo>
                <a:cubicBezTo>
                  <a:pt x="6385" y="85725"/>
                  <a:pt x="0" y="79340"/>
                  <a:pt x="0" y="71438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28575" y="38710"/>
                </a:lnTo>
                <a:cubicBezTo>
                  <a:pt x="49515" y="15002"/>
                  <a:pt x="80144" y="0"/>
                  <a:pt x="114300" y="0"/>
                </a:cubicBezTo>
                <a:cubicBezTo>
                  <a:pt x="177433" y="0"/>
                  <a:pt x="228600" y="51167"/>
                  <a:pt x="228600" y="114300"/>
                </a:cubicBezTo>
                <a:cubicBezTo>
                  <a:pt x="228600" y="177433"/>
                  <a:pt x="177433" y="228600"/>
                  <a:pt x="114300" y="228600"/>
                </a:cubicBezTo>
                <a:cubicBezTo>
                  <a:pt x="75456" y="228600"/>
                  <a:pt x="41121" y="209223"/>
                  <a:pt x="20494" y="179621"/>
                </a:cubicBezTo>
                <a:cubicBezTo>
                  <a:pt x="15984" y="173147"/>
                  <a:pt x="17547" y="164262"/>
                  <a:pt x="24021" y="159707"/>
                </a:cubicBezTo>
                <a:cubicBezTo>
                  <a:pt x="30495" y="155153"/>
                  <a:pt x="39380" y="156761"/>
                  <a:pt x="43934" y="163235"/>
                </a:cubicBezTo>
                <a:cubicBezTo>
                  <a:pt x="59472" y="185470"/>
                  <a:pt x="85189" y="199980"/>
                  <a:pt x="114300" y="199980"/>
                </a:cubicBezTo>
                <a:cubicBezTo>
                  <a:pt x="161627" y="199980"/>
                  <a:pt x="200025" y="161583"/>
                  <a:pt x="200025" y="114255"/>
                </a:cubicBezTo>
                <a:cubicBezTo>
                  <a:pt x="200025" y="66928"/>
                  <a:pt x="161627" y="28575"/>
                  <a:pt x="114300" y="28575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470321" y="4632961"/>
            <a:ext cx="34575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$29M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470321" y="5090161"/>
            <a:ext cx="33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0.36% of total sales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121611" y="4061460"/>
            <a:ext cx="3686175" cy="1409700"/>
          </a:xfrm>
          <a:custGeom>
            <a:rect b="b" l="l" r="r" t="t"/>
            <a:pathLst>
              <a:path extrusionOk="0" h="1409700" w="3686175">
                <a:moveTo>
                  <a:pt x="38100" y="0"/>
                </a:moveTo>
                <a:lnTo>
                  <a:pt x="3609981" y="0"/>
                </a:lnTo>
                <a:cubicBezTo>
                  <a:pt x="3652033" y="0"/>
                  <a:pt x="3686175" y="34142"/>
                  <a:pt x="3686175" y="76194"/>
                </a:cubicBezTo>
                <a:lnTo>
                  <a:pt x="3686175" y="1333506"/>
                </a:lnTo>
                <a:cubicBezTo>
                  <a:pt x="3686175" y="1375587"/>
                  <a:pt x="3652062" y="1409700"/>
                  <a:pt x="3609981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121611" y="4061460"/>
            <a:ext cx="38100" cy="1409700"/>
          </a:xfrm>
          <a:custGeom>
            <a:rect b="b" l="l" r="r" t="t"/>
            <a:pathLst>
              <a:path extrusionOk="0" h="1409700" w="381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331161" y="4251960"/>
            <a:ext cx="1152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Discount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1348919" y="4271010"/>
            <a:ext cx="257175" cy="228600"/>
          </a:xfrm>
          <a:custGeom>
            <a:rect b="b" l="l" r="r" t="t"/>
            <a:pathLst>
              <a:path extrusionOk="0" h="228600" w="257175">
                <a:moveTo>
                  <a:pt x="179130" y="17458"/>
                </a:moveTo>
                <a:lnTo>
                  <a:pt x="245299" y="84564"/>
                </a:lnTo>
                <a:cubicBezTo>
                  <a:pt x="257666" y="97110"/>
                  <a:pt x="257666" y="117202"/>
                  <a:pt x="245299" y="129748"/>
                </a:cubicBezTo>
                <a:lnTo>
                  <a:pt x="175468" y="200427"/>
                </a:lnTo>
                <a:cubicBezTo>
                  <a:pt x="171316" y="204624"/>
                  <a:pt x="164529" y="204668"/>
                  <a:pt x="160333" y="200516"/>
                </a:cubicBezTo>
                <a:cubicBezTo>
                  <a:pt x="156136" y="196364"/>
                  <a:pt x="156091" y="189577"/>
                  <a:pt x="160243" y="185380"/>
                </a:cubicBezTo>
                <a:lnTo>
                  <a:pt x="230073" y="114657"/>
                </a:lnTo>
                <a:cubicBezTo>
                  <a:pt x="234181" y="110505"/>
                  <a:pt x="234181" y="103763"/>
                  <a:pt x="230073" y="99611"/>
                </a:cubicBezTo>
                <a:lnTo>
                  <a:pt x="163860" y="32549"/>
                </a:lnTo>
                <a:cubicBezTo>
                  <a:pt x="159707" y="28352"/>
                  <a:pt x="159752" y="21565"/>
                  <a:pt x="163949" y="17413"/>
                </a:cubicBezTo>
                <a:cubicBezTo>
                  <a:pt x="168146" y="13261"/>
                  <a:pt x="174933" y="13305"/>
                  <a:pt x="179085" y="17502"/>
                </a:cubicBezTo>
                <a:close/>
                <a:moveTo>
                  <a:pt x="14332" y="102468"/>
                </a:moveTo>
                <a:lnTo>
                  <a:pt x="14332" y="42863"/>
                </a:lnTo>
                <a:cubicBezTo>
                  <a:pt x="14332" y="27102"/>
                  <a:pt x="27146" y="14288"/>
                  <a:pt x="42907" y="14288"/>
                </a:cubicBezTo>
                <a:lnTo>
                  <a:pt x="102513" y="14288"/>
                </a:lnTo>
                <a:cubicBezTo>
                  <a:pt x="110103" y="14288"/>
                  <a:pt x="117381" y="17279"/>
                  <a:pt x="122739" y="22637"/>
                </a:cubicBezTo>
                <a:lnTo>
                  <a:pt x="187032" y="86931"/>
                </a:lnTo>
                <a:cubicBezTo>
                  <a:pt x="198194" y="98093"/>
                  <a:pt x="198194" y="116175"/>
                  <a:pt x="187032" y="127337"/>
                </a:cubicBezTo>
                <a:lnTo>
                  <a:pt x="127427" y="186943"/>
                </a:lnTo>
                <a:cubicBezTo>
                  <a:pt x="116265" y="198105"/>
                  <a:pt x="98182" y="198105"/>
                  <a:pt x="87020" y="186943"/>
                </a:cubicBezTo>
                <a:lnTo>
                  <a:pt x="22726" y="122649"/>
                </a:lnTo>
                <a:cubicBezTo>
                  <a:pt x="17368" y="117291"/>
                  <a:pt x="14377" y="110014"/>
                  <a:pt x="14377" y="102424"/>
                </a:cubicBezTo>
                <a:close/>
                <a:moveTo>
                  <a:pt x="78626" y="64294"/>
                </a:moveTo>
                <a:cubicBezTo>
                  <a:pt x="78626" y="56408"/>
                  <a:pt x="72224" y="50006"/>
                  <a:pt x="64338" y="50006"/>
                </a:cubicBezTo>
                <a:cubicBezTo>
                  <a:pt x="56453" y="50006"/>
                  <a:pt x="50051" y="56408"/>
                  <a:pt x="50051" y="64294"/>
                </a:cubicBezTo>
                <a:cubicBezTo>
                  <a:pt x="50051" y="72179"/>
                  <a:pt x="56453" y="78581"/>
                  <a:pt x="64338" y="78581"/>
                </a:cubicBezTo>
                <a:cubicBezTo>
                  <a:pt x="72224" y="78581"/>
                  <a:pt x="78626" y="72179"/>
                  <a:pt x="78626" y="64294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331161" y="4632961"/>
            <a:ext cx="34575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$40M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331161" y="5090161"/>
            <a:ext cx="33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0.50% of total sales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84810" y="5665471"/>
            <a:ext cx="11418570" cy="807720"/>
          </a:xfrm>
          <a:custGeom>
            <a:rect b="b" l="l" r="r" t="t"/>
            <a:pathLst>
              <a:path extrusionOk="0" h="807720" w="1141857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731520"/>
                </a:lnTo>
                <a:cubicBezTo>
                  <a:pt x="11418570" y="773604"/>
                  <a:pt x="11384454" y="807720"/>
                  <a:pt x="113423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41020" y="582168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Health Assessment:</a:t>
            </a: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 a 57% profit margin and strong sales performance, the business demonstrates exceptional operational efficiency. Return and discount rates remain minimal, indicating high customer satisfaction and effective pricing strategies.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71707" y="669073"/>
            <a:ext cx="11671610" cy="446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2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Product Category Performance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71707" y="1226634"/>
            <a:ext cx="892098" cy="37171"/>
          </a:xfrm>
          <a:custGeom>
            <a:rect b="b" l="l" r="r" t="t"/>
            <a:pathLst>
              <a:path extrusionOk="0" h="37171" w="892098">
                <a:moveTo>
                  <a:pt x="0" y="0"/>
                </a:moveTo>
                <a:lnTo>
                  <a:pt x="892098" y="0"/>
                </a:lnTo>
                <a:lnTo>
                  <a:pt x="892098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71707" y="1449659"/>
            <a:ext cx="6337610" cy="4460488"/>
          </a:xfrm>
          <a:custGeom>
            <a:rect b="b" l="l" r="r" t="t"/>
            <a:pathLst>
              <a:path extrusionOk="0" h="4460488" w="6337610">
                <a:moveTo>
                  <a:pt x="74356" y="0"/>
                </a:moveTo>
                <a:lnTo>
                  <a:pt x="6263253" y="0"/>
                </a:lnTo>
                <a:cubicBezTo>
                  <a:pt x="6304319" y="0"/>
                  <a:pt x="6337610" y="33290"/>
                  <a:pt x="6337610" y="74356"/>
                </a:cubicBezTo>
                <a:lnTo>
                  <a:pt x="6337610" y="4386131"/>
                </a:lnTo>
                <a:cubicBezTo>
                  <a:pt x="6337610" y="4427197"/>
                  <a:pt x="6304319" y="4460488"/>
                  <a:pt x="6263253" y="4460488"/>
                </a:cubicBezTo>
                <a:lnTo>
                  <a:pt x="74356" y="4460488"/>
                </a:lnTo>
                <a:cubicBezTo>
                  <a:pt x="33290" y="4460488"/>
                  <a:pt x="0" y="4427197"/>
                  <a:pt x="0" y="4386131"/>
                </a:cubicBezTo>
                <a:lnTo>
                  <a:pt x="0" y="74356"/>
                </a:lnTo>
                <a:cubicBezTo>
                  <a:pt x="0" y="33290"/>
                  <a:pt x="33290" y="0"/>
                  <a:pt x="74356" y="0"/>
                </a:cubicBezTo>
                <a:close/>
              </a:path>
            </a:pathLst>
          </a:custGeom>
          <a:solidFill>
            <a:srgbClr val="2D3E5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57561" y="1635512"/>
            <a:ext cx="6058829" cy="26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3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Sales by Product Category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kimi-img.moonshot.cn/pub/slides/26-02-10-19:01:57-d65h09fk67efdo1ves30.png" id="148" name="Google Shape;148;p5"/>
          <p:cNvPicPr preferRelativeResize="0"/>
          <p:nvPr/>
        </p:nvPicPr>
        <p:blipFill rotWithShape="1">
          <a:blip r:embed="rId3">
            <a:alphaModFix/>
          </a:blip>
          <a:srcRect b="15" l="0" r="0" t="16"/>
          <a:stretch/>
        </p:blipFill>
        <p:spPr>
          <a:xfrm>
            <a:off x="557561" y="2007220"/>
            <a:ext cx="5807927" cy="371707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6939776" y="1453376"/>
            <a:ext cx="4876800" cy="3278459"/>
          </a:xfrm>
          <a:custGeom>
            <a:rect b="b" l="l" r="r" t="t"/>
            <a:pathLst>
              <a:path extrusionOk="0" h="3278459" w="4876800">
                <a:moveTo>
                  <a:pt x="74355" y="0"/>
                </a:moveTo>
                <a:lnTo>
                  <a:pt x="4802445" y="0"/>
                </a:lnTo>
                <a:cubicBezTo>
                  <a:pt x="4843510" y="0"/>
                  <a:pt x="4876800" y="33290"/>
                  <a:pt x="4876800" y="74355"/>
                </a:cubicBezTo>
                <a:lnTo>
                  <a:pt x="4876800" y="3204103"/>
                </a:lnTo>
                <a:cubicBezTo>
                  <a:pt x="4876800" y="3245168"/>
                  <a:pt x="4843510" y="3278459"/>
                  <a:pt x="4802445" y="3278459"/>
                </a:cubicBezTo>
                <a:lnTo>
                  <a:pt x="74355" y="3278459"/>
                </a:lnTo>
                <a:cubicBezTo>
                  <a:pt x="33290" y="3278459"/>
                  <a:pt x="0" y="3245168"/>
                  <a:pt x="0" y="3204103"/>
                </a:cubicBezTo>
                <a:lnTo>
                  <a:pt x="0" y="74355"/>
                </a:lnTo>
                <a:cubicBezTo>
                  <a:pt x="0" y="33318"/>
                  <a:pt x="33318" y="0"/>
                  <a:pt x="74355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129346" y="1642947"/>
            <a:ext cx="4590585" cy="26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3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Category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129346" y="2107581"/>
            <a:ext cx="111512" cy="111512"/>
          </a:xfrm>
          <a:custGeom>
            <a:rect b="b" l="l" r="r" t="t"/>
            <a:pathLst>
              <a:path extrusionOk="0" h="111512" w="111512">
                <a:moveTo>
                  <a:pt x="55756" y="0"/>
                </a:moveTo>
                <a:lnTo>
                  <a:pt x="55756" y="0"/>
                </a:lnTo>
                <a:cubicBezTo>
                  <a:pt x="86549" y="0"/>
                  <a:pt x="111512" y="24963"/>
                  <a:pt x="111512" y="55756"/>
                </a:cubicBezTo>
                <a:lnTo>
                  <a:pt x="111512" y="55756"/>
                </a:lnTo>
                <a:cubicBezTo>
                  <a:pt x="111512" y="86549"/>
                  <a:pt x="86549" y="111512"/>
                  <a:pt x="55756" y="111512"/>
                </a:cubicBezTo>
                <a:lnTo>
                  <a:pt x="55756" y="111512"/>
                </a:lnTo>
                <a:cubicBezTo>
                  <a:pt x="24963" y="111512"/>
                  <a:pt x="0" y="86549"/>
                  <a:pt x="0" y="55756"/>
                </a:cubicBezTo>
                <a:lnTo>
                  <a:pt x="0" y="55756"/>
                </a:lnTo>
                <a:cubicBezTo>
                  <a:pt x="0" y="24963"/>
                  <a:pt x="24963" y="0"/>
                  <a:pt x="55756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352371" y="2051825"/>
            <a:ext cx="4348976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Dominant Categories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352371" y="2274849"/>
            <a:ext cx="4339683" cy="371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Computers and Cameras &amp; Camcorders each contribute $3bn, representing 75% of total sales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129346" y="2813825"/>
            <a:ext cx="111512" cy="111512"/>
          </a:xfrm>
          <a:custGeom>
            <a:rect b="b" l="l" r="r" t="t"/>
            <a:pathLst>
              <a:path extrusionOk="0" h="111512" w="111512">
                <a:moveTo>
                  <a:pt x="55756" y="0"/>
                </a:moveTo>
                <a:lnTo>
                  <a:pt x="55756" y="0"/>
                </a:lnTo>
                <a:cubicBezTo>
                  <a:pt x="86549" y="0"/>
                  <a:pt x="111512" y="24963"/>
                  <a:pt x="111512" y="55756"/>
                </a:cubicBezTo>
                <a:lnTo>
                  <a:pt x="111512" y="55756"/>
                </a:lnTo>
                <a:cubicBezTo>
                  <a:pt x="111512" y="86549"/>
                  <a:pt x="86549" y="111512"/>
                  <a:pt x="55756" y="111512"/>
                </a:cubicBezTo>
                <a:lnTo>
                  <a:pt x="55756" y="111512"/>
                </a:lnTo>
                <a:cubicBezTo>
                  <a:pt x="24963" y="111512"/>
                  <a:pt x="0" y="86549"/>
                  <a:pt x="0" y="55756"/>
                </a:cubicBezTo>
                <a:lnTo>
                  <a:pt x="0" y="55756"/>
                </a:lnTo>
                <a:cubicBezTo>
                  <a:pt x="0" y="24963"/>
                  <a:pt x="24963" y="0"/>
                  <a:pt x="55756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352371" y="2758069"/>
            <a:ext cx="4348976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Secondary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352371" y="2981093"/>
            <a:ext cx="4339683" cy="371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TV &amp; Video and Cell Phones generate $1bn each, showing solid market presence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129346" y="3520069"/>
            <a:ext cx="111512" cy="111512"/>
          </a:xfrm>
          <a:custGeom>
            <a:rect b="b" l="l" r="r" t="t"/>
            <a:pathLst>
              <a:path extrusionOk="0" h="111512" w="111512">
                <a:moveTo>
                  <a:pt x="55756" y="0"/>
                </a:moveTo>
                <a:lnTo>
                  <a:pt x="55756" y="0"/>
                </a:lnTo>
                <a:cubicBezTo>
                  <a:pt x="86549" y="0"/>
                  <a:pt x="111512" y="24963"/>
                  <a:pt x="111512" y="55756"/>
                </a:cubicBezTo>
                <a:lnTo>
                  <a:pt x="111512" y="55756"/>
                </a:lnTo>
                <a:cubicBezTo>
                  <a:pt x="111512" y="86549"/>
                  <a:pt x="86549" y="111512"/>
                  <a:pt x="55756" y="111512"/>
                </a:cubicBezTo>
                <a:lnTo>
                  <a:pt x="55756" y="111512"/>
                </a:lnTo>
                <a:cubicBezTo>
                  <a:pt x="24963" y="111512"/>
                  <a:pt x="0" y="86549"/>
                  <a:pt x="0" y="55756"/>
                </a:cubicBezTo>
                <a:lnTo>
                  <a:pt x="0" y="55756"/>
                </a:lnTo>
                <a:cubicBezTo>
                  <a:pt x="0" y="24963"/>
                  <a:pt x="24963" y="0"/>
                  <a:pt x="55756" y="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7352371" y="3464313"/>
            <a:ext cx="4348976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Underperforming Segments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352371" y="3687337"/>
            <a:ext cx="4339683" cy="371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Music/Movies/TV and Audio show minimal contribution, indicating potential divestment opportunities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936059" y="4888067"/>
            <a:ext cx="4887951" cy="1022195"/>
          </a:xfrm>
          <a:custGeom>
            <a:rect b="b" l="l" r="r" t="t"/>
            <a:pathLst>
              <a:path extrusionOk="0" h="1022195" w="4887951">
                <a:moveTo>
                  <a:pt x="74344" y="0"/>
                </a:moveTo>
                <a:lnTo>
                  <a:pt x="4813607" y="0"/>
                </a:lnTo>
                <a:cubicBezTo>
                  <a:pt x="4854666" y="0"/>
                  <a:pt x="4887951" y="33285"/>
                  <a:pt x="4887951" y="74344"/>
                </a:cubicBezTo>
                <a:lnTo>
                  <a:pt x="4887951" y="947851"/>
                </a:lnTo>
                <a:cubicBezTo>
                  <a:pt x="4887951" y="988910"/>
                  <a:pt x="4854666" y="1022195"/>
                  <a:pt x="4813607" y="1022195"/>
                </a:cubicBezTo>
                <a:lnTo>
                  <a:pt x="74344" y="1022195"/>
                </a:lnTo>
                <a:cubicBezTo>
                  <a:pt x="33285" y="1022195"/>
                  <a:pt x="0" y="988910"/>
                  <a:pt x="0" y="947851"/>
                </a:cubicBezTo>
                <a:lnTo>
                  <a:pt x="0" y="74344"/>
                </a:lnTo>
                <a:cubicBezTo>
                  <a:pt x="0" y="33285"/>
                  <a:pt x="33285" y="0"/>
                  <a:pt x="74344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084742" y="5073805"/>
            <a:ext cx="1895707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Category Concentration Risk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1204072" y="5036750"/>
            <a:ext cx="576146" cy="29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6">
                <a:solidFill>
                  <a:srgbClr val="FF6B6B"/>
                </a:solidFill>
                <a:latin typeface="Liter"/>
                <a:ea typeface="Liter"/>
                <a:cs typeface="Liter"/>
                <a:sym typeface="Liter"/>
              </a:rPr>
              <a:t>High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084742" y="5408341"/>
            <a:ext cx="4590585" cy="92927"/>
          </a:xfrm>
          <a:custGeom>
            <a:rect b="b" l="l" r="r" t="t"/>
            <a:pathLst>
              <a:path extrusionOk="0" h="92927" w="4590585">
                <a:moveTo>
                  <a:pt x="46463" y="0"/>
                </a:moveTo>
                <a:lnTo>
                  <a:pt x="4544122" y="0"/>
                </a:lnTo>
                <a:cubicBezTo>
                  <a:pt x="4569783" y="0"/>
                  <a:pt x="4590585" y="20802"/>
                  <a:pt x="4590585" y="46463"/>
                </a:cubicBezTo>
                <a:lnTo>
                  <a:pt x="4590585" y="46463"/>
                </a:lnTo>
                <a:cubicBezTo>
                  <a:pt x="4590585" y="72124"/>
                  <a:pt x="4569783" y="92927"/>
                  <a:pt x="4544122" y="92927"/>
                </a:cubicBezTo>
                <a:lnTo>
                  <a:pt x="46463" y="92927"/>
                </a:lnTo>
                <a:cubicBezTo>
                  <a:pt x="20802" y="92927"/>
                  <a:pt x="0" y="72124"/>
                  <a:pt x="0" y="46463"/>
                </a:cubicBezTo>
                <a:lnTo>
                  <a:pt x="0" y="46463"/>
                </a:lnTo>
                <a:cubicBezTo>
                  <a:pt x="0" y="20802"/>
                  <a:pt x="20802" y="0"/>
                  <a:pt x="46463" y="0"/>
                </a:cubicBezTo>
                <a:close/>
              </a:path>
            </a:pathLst>
          </a:custGeom>
          <a:solidFill>
            <a:srgbClr val="1A1D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084742" y="5408341"/>
            <a:ext cx="3438293" cy="92927"/>
          </a:xfrm>
          <a:custGeom>
            <a:rect b="b" l="l" r="r" t="t"/>
            <a:pathLst>
              <a:path extrusionOk="0" h="92927" w="3438293">
                <a:moveTo>
                  <a:pt x="46463" y="0"/>
                </a:moveTo>
                <a:lnTo>
                  <a:pt x="3391829" y="0"/>
                </a:lnTo>
                <a:cubicBezTo>
                  <a:pt x="3417490" y="0"/>
                  <a:pt x="3438293" y="20802"/>
                  <a:pt x="3438293" y="46463"/>
                </a:cubicBezTo>
                <a:lnTo>
                  <a:pt x="3438293" y="46463"/>
                </a:lnTo>
                <a:cubicBezTo>
                  <a:pt x="3438293" y="72124"/>
                  <a:pt x="3417490" y="92927"/>
                  <a:pt x="3391829" y="92927"/>
                </a:cubicBezTo>
                <a:lnTo>
                  <a:pt x="46463" y="92927"/>
                </a:lnTo>
                <a:cubicBezTo>
                  <a:pt x="20802" y="92927"/>
                  <a:pt x="0" y="72124"/>
                  <a:pt x="0" y="46463"/>
                </a:cubicBezTo>
                <a:lnTo>
                  <a:pt x="0" y="46463"/>
                </a:lnTo>
                <a:cubicBezTo>
                  <a:pt x="0" y="20802"/>
                  <a:pt x="20802" y="0"/>
                  <a:pt x="46463" y="0"/>
                </a:cubicBezTo>
                <a:close/>
              </a:path>
            </a:pathLst>
          </a:custGeom>
          <a:gradFill>
            <a:gsLst>
              <a:gs pos="0">
                <a:srgbClr val="00D4AA"/>
              </a:gs>
              <a:gs pos="100000">
                <a:srgbClr val="FF6B6B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084742" y="5575610"/>
            <a:ext cx="4655634" cy="185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2 categories = 75% of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75424" y="6062546"/>
            <a:ext cx="3705922" cy="672791"/>
          </a:xfrm>
          <a:custGeom>
            <a:rect b="b" l="l" r="r" t="t"/>
            <a:pathLst>
              <a:path extrusionOk="0" h="788020" w="3705922">
                <a:moveTo>
                  <a:pt x="74342" y="0"/>
                </a:moveTo>
                <a:lnTo>
                  <a:pt x="3631580" y="0"/>
                </a:lnTo>
                <a:cubicBezTo>
                  <a:pt x="3672638" y="0"/>
                  <a:pt x="3705922" y="33284"/>
                  <a:pt x="3705922" y="74342"/>
                </a:cubicBezTo>
                <a:lnTo>
                  <a:pt x="3705922" y="713678"/>
                </a:lnTo>
                <a:cubicBezTo>
                  <a:pt x="3705922" y="754736"/>
                  <a:pt x="3672638" y="788020"/>
                  <a:pt x="3631580" y="788020"/>
                </a:cubicBezTo>
                <a:lnTo>
                  <a:pt x="74342" y="788020"/>
                </a:lnTo>
                <a:cubicBezTo>
                  <a:pt x="33284" y="788020"/>
                  <a:pt x="0" y="754736"/>
                  <a:pt x="0" y="713678"/>
                </a:cubicBezTo>
                <a:lnTo>
                  <a:pt x="0" y="74342"/>
                </a:lnTo>
                <a:cubicBezTo>
                  <a:pt x="0" y="33311"/>
                  <a:pt x="33311" y="0"/>
                  <a:pt x="74342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8129" y="6177776"/>
            <a:ext cx="3540512" cy="185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Categories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20959" y="6400800"/>
            <a:ext cx="3614854" cy="334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241180" y="6062546"/>
            <a:ext cx="3705922" cy="672791"/>
          </a:xfrm>
          <a:custGeom>
            <a:rect b="b" l="l" r="r" t="t"/>
            <a:pathLst>
              <a:path extrusionOk="0" h="788020" w="3705922">
                <a:moveTo>
                  <a:pt x="74342" y="0"/>
                </a:moveTo>
                <a:lnTo>
                  <a:pt x="3631580" y="0"/>
                </a:lnTo>
                <a:cubicBezTo>
                  <a:pt x="3672638" y="0"/>
                  <a:pt x="3705922" y="33284"/>
                  <a:pt x="3705922" y="74342"/>
                </a:cubicBezTo>
                <a:lnTo>
                  <a:pt x="3705922" y="713678"/>
                </a:lnTo>
                <a:cubicBezTo>
                  <a:pt x="3705922" y="754736"/>
                  <a:pt x="3672638" y="788020"/>
                  <a:pt x="3631580" y="788020"/>
                </a:cubicBezTo>
                <a:lnTo>
                  <a:pt x="74342" y="788020"/>
                </a:lnTo>
                <a:cubicBezTo>
                  <a:pt x="33284" y="788020"/>
                  <a:pt x="0" y="754736"/>
                  <a:pt x="0" y="713678"/>
                </a:cubicBezTo>
                <a:lnTo>
                  <a:pt x="0" y="74342"/>
                </a:lnTo>
                <a:cubicBezTo>
                  <a:pt x="0" y="33311"/>
                  <a:pt x="33311" y="0"/>
                  <a:pt x="74342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323886" y="6177776"/>
            <a:ext cx="3540512" cy="185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Active Contributors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286715" y="6400800"/>
            <a:ext cx="3614854" cy="334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106937" y="6062546"/>
            <a:ext cx="3705922" cy="672791"/>
          </a:xfrm>
          <a:custGeom>
            <a:rect b="b" l="l" r="r" t="t"/>
            <a:pathLst>
              <a:path extrusionOk="0" h="788020" w="3705922">
                <a:moveTo>
                  <a:pt x="74342" y="0"/>
                </a:moveTo>
                <a:lnTo>
                  <a:pt x="3631580" y="0"/>
                </a:lnTo>
                <a:cubicBezTo>
                  <a:pt x="3672638" y="0"/>
                  <a:pt x="3705922" y="33284"/>
                  <a:pt x="3705922" y="74342"/>
                </a:cubicBezTo>
                <a:lnTo>
                  <a:pt x="3705922" y="713678"/>
                </a:lnTo>
                <a:cubicBezTo>
                  <a:pt x="3705922" y="754736"/>
                  <a:pt x="3672638" y="788020"/>
                  <a:pt x="3631580" y="788020"/>
                </a:cubicBezTo>
                <a:lnTo>
                  <a:pt x="74342" y="788020"/>
                </a:lnTo>
                <a:cubicBezTo>
                  <a:pt x="33284" y="788020"/>
                  <a:pt x="0" y="754736"/>
                  <a:pt x="0" y="713678"/>
                </a:cubicBezTo>
                <a:lnTo>
                  <a:pt x="0" y="74342"/>
                </a:lnTo>
                <a:cubicBezTo>
                  <a:pt x="0" y="33311"/>
                  <a:pt x="33311" y="0"/>
                  <a:pt x="74342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189641" y="6177776"/>
            <a:ext cx="3540512" cy="185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Concentration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152471" y="6400800"/>
            <a:ext cx="3614854" cy="334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75%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375716" y="375716"/>
            <a:ext cx="11515710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75716" y="676290"/>
            <a:ext cx="11665997" cy="45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Regional Sales Distribution: Global Perspective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75716" y="1239864"/>
            <a:ext cx="901720" cy="37572"/>
          </a:xfrm>
          <a:custGeom>
            <a:rect b="b" l="l" r="r" t="t"/>
            <a:pathLst>
              <a:path extrusionOk="0" h="37572" w="901720">
                <a:moveTo>
                  <a:pt x="0" y="0"/>
                </a:moveTo>
                <a:lnTo>
                  <a:pt x="901720" y="0"/>
                </a:lnTo>
                <a:lnTo>
                  <a:pt x="901720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75716" y="1465294"/>
            <a:ext cx="6875612" cy="4508598"/>
          </a:xfrm>
          <a:custGeom>
            <a:rect b="b" l="l" r="r" t="t"/>
            <a:pathLst>
              <a:path extrusionOk="0" h="4508598" w="6875612">
                <a:moveTo>
                  <a:pt x="75158" y="0"/>
                </a:moveTo>
                <a:lnTo>
                  <a:pt x="6800453" y="0"/>
                </a:lnTo>
                <a:cubicBezTo>
                  <a:pt x="6841962" y="0"/>
                  <a:pt x="6875612" y="33650"/>
                  <a:pt x="6875612" y="75158"/>
                </a:cubicBezTo>
                <a:lnTo>
                  <a:pt x="6875612" y="4433440"/>
                </a:lnTo>
                <a:cubicBezTo>
                  <a:pt x="6875612" y="4474948"/>
                  <a:pt x="6841962" y="4508598"/>
                  <a:pt x="6800453" y="4508598"/>
                </a:cubicBezTo>
                <a:lnTo>
                  <a:pt x="75158" y="4508598"/>
                </a:lnTo>
                <a:cubicBezTo>
                  <a:pt x="33650" y="4508598"/>
                  <a:pt x="0" y="4474948"/>
                  <a:pt x="0" y="4433440"/>
                </a:cubicBezTo>
                <a:lnTo>
                  <a:pt x="0" y="75158"/>
                </a:lnTo>
                <a:cubicBezTo>
                  <a:pt x="0" y="33650"/>
                  <a:pt x="33650" y="0"/>
                  <a:pt x="75158" y="0"/>
                </a:cubicBezTo>
                <a:close/>
              </a:path>
            </a:pathLst>
          </a:custGeom>
          <a:solidFill>
            <a:srgbClr val="2D3E5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63575" y="1653153"/>
            <a:ext cx="6593824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9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Sales by Country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kimi-img.moonshot.cn/pub/slides/26-02-10-19:01:57-d65h09aque5p30amaum0.png" id="185" name="Google Shape;185;p6"/>
          <p:cNvPicPr preferRelativeResize="0"/>
          <p:nvPr/>
        </p:nvPicPr>
        <p:blipFill rotWithShape="1">
          <a:blip r:embed="rId3">
            <a:alphaModFix/>
          </a:blip>
          <a:srcRect b="28" l="0" r="0" t="29"/>
          <a:stretch/>
        </p:blipFill>
        <p:spPr>
          <a:xfrm>
            <a:off x="563575" y="2028869"/>
            <a:ext cx="6405966" cy="375716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6" name="Google Shape;186;p6"/>
          <p:cNvSpPr/>
          <p:nvPr/>
        </p:nvSpPr>
        <p:spPr>
          <a:xfrm>
            <a:off x="7482981" y="1469051"/>
            <a:ext cx="4328254" cy="2956889"/>
          </a:xfrm>
          <a:custGeom>
            <a:rect b="b" l="l" r="r" t="t"/>
            <a:pathLst>
              <a:path extrusionOk="0" h="2956889" w="4328254">
                <a:moveTo>
                  <a:pt x="75135" y="0"/>
                </a:moveTo>
                <a:lnTo>
                  <a:pt x="4253119" y="0"/>
                </a:lnTo>
                <a:cubicBezTo>
                  <a:pt x="4294615" y="0"/>
                  <a:pt x="4328254" y="33639"/>
                  <a:pt x="4328254" y="75135"/>
                </a:cubicBezTo>
                <a:lnTo>
                  <a:pt x="4328254" y="2881754"/>
                </a:lnTo>
                <a:cubicBezTo>
                  <a:pt x="4328254" y="2923250"/>
                  <a:pt x="4294615" y="2956889"/>
                  <a:pt x="4253119" y="2956889"/>
                </a:cubicBezTo>
                <a:lnTo>
                  <a:pt x="75135" y="2956889"/>
                </a:lnTo>
                <a:cubicBezTo>
                  <a:pt x="33639" y="2956889"/>
                  <a:pt x="0" y="2923250"/>
                  <a:pt x="0" y="2881754"/>
                </a:cubicBezTo>
                <a:lnTo>
                  <a:pt x="0" y="75135"/>
                </a:lnTo>
                <a:cubicBezTo>
                  <a:pt x="0" y="33667"/>
                  <a:pt x="33667" y="0"/>
                  <a:pt x="75135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674596" y="1660667"/>
            <a:ext cx="4038952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9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Market Leadership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674596" y="2073955"/>
            <a:ext cx="3945023" cy="638718"/>
          </a:xfrm>
          <a:custGeom>
            <a:rect b="b" l="l" r="r" t="t"/>
            <a:pathLst>
              <a:path extrusionOk="0" h="638718" w="3945023">
                <a:moveTo>
                  <a:pt x="37569" y="0"/>
                </a:moveTo>
                <a:lnTo>
                  <a:pt x="3907454" y="0"/>
                </a:lnTo>
                <a:cubicBezTo>
                  <a:pt x="3928203" y="0"/>
                  <a:pt x="3945023" y="16820"/>
                  <a:pt x="3945023" y="37569"/>
                </a:cubicBezTo>
                <a:lnTo>
                  <a:pt x="3945023" y="601149"/>
                </a:lnTo>
                <a:cubicBezTo>
                  <a:pt x="3945023" y="621898"/>
                  <a:pt x="3928203" y="638718"/>
                  <a:pt x="3907454" y="638718"/>
                </a:cubicBezTo>
                <a:lnTo>
                  <a:pt x="37569" y="638718"/>
                </a:lnTo>
                <a:cubicBezTo>
                  <a:pt x="16834" y="638718"/>
                  <a:pt x="0" y="621884"/>
                  <a:pt x="0" y="601149"/>
                </a:cubicBezTo>
                <a:lnTo>
                  <a:pt x="0" y="37569"/>
                </a:lnTo>
                <a:cubicBezTo>
                  <a:pt x="0" y="16834"/>
                  <a:pt x="16834" y="0"/>
                  <a:pt x="37569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787311" y="2243028"/>
            <a:ext cx="328752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🇺🇸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116181" y="2186670"/>
            <a:ext cx="939291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United States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116181" y="2412100"/>
            <a:ext cx="929898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Market Leader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0747958" y="2243028"/>
            <a:ext cx="8735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$1.41bn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7674596" y="2825388"/>
            <a:ext cx="3945023" cy="638718"/>
          </a:xfrm>
          <a:custGeom>
            <a:rect b="b" l="l" r="r" t="t"/>
            <a:pathLst>
              <a:path extrusionOk="0" h="638718" w="3945023">
                <a:moveTo>
                  <a:pt x="37569" y="0"/>
                </a:moveTo>
                <a:lnTo>
                  <a:pt x="3907454" y="0"/>
                </a:lnTo>
                <a:cubicBezTo>
                  <a:pt x="3928203" y="0"/>
                  <a:pt x="3945023" y="16820"/>
                  <a:pt x="3945023" y="37569"/>
                </a:cubicBezTo>
                <a:lnTo>
                  <a:pt x="3945023" y="601149"/>
                </a:lnTo>
                <a:cubicBezTo>
                  <a:pt x="3945023" y="621898"/>
                  <a:pt x="3928203" y="638718"/>
                  <a:pt x="3907454" y="638718"/>
                </a:cubicBezTo>
                <a:lnTo>
                  <a:pt x="37569" y="638718"/>
                </a:lnTo>
                <a:cubicBezTo>
                  <a:pt x="16834" y="638718"/>
                  <a:pt x="0" y="621884"/>
                  <a:pt x="0" y="601149"/>
                </a:cubicBezTo>
                <a:lnTo>
                  <a:pt x="0" y="37569"/>
                </a:lnTo>
                <a:cubicBezTo>
                  <a:pt x="0" y="16834"/>
                  <a:pt x="16834" y="0"/>
                  <a:pt x="37569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787311" y="2994461"/>
            <a:ext cx="347538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🇨🇳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136258" y="2938103"/>
            <a:ext cx="911112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China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136258" y="3163533"/>
            <a:ext cx="901720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Growth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755355" y="2994461"/>
            <a:ext cx="864148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$388M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674596" y="3576821"/>
            <a:ext cx="3945023" cy="638718"/>
          </a:xfrm>
          <a:custGeom>
            <a:rect b="b" l="l" r="r" t="t"/>
            <a:pathLst>
              <a:path extrusionOk="0" h="638718" w="3945023">
                <a:moveTo>
                  <a:pt x="37569" y="0"/>
                </a:moveTo>
                <a:lnTo>
                  <a:pt x="3907454" y="0"/>
                </a:lnTo>
                <a:cubicBezTo>
                  <a:pt x="3928203" y="0"/>
                  <a:pt x="3945023" y="16820"/>
                  <a:pt x="3945023" y="37569"/>
                </a:cubicBezTo>
                <a:lnTo>
                  <a:pt x="3945023" y="601149"/>
                </a:lnTo>
                <a:cubicBezTo>
                  <a:pt x="3945023" y="621898"/>
                  <a:pt x="3928203" y="638718"/>
                  <a:pt x="3907454" y="638718"/>
                </a:cubicBezTo>
                <a:lnTo>
                  <a:pt x="37569" y="638718"/>
                </a:lnTo>
                <a:cubicBezTo>
                  <a:pt x="16834" y="638718"/>
                  <a:pt x="0" y="621884"/>
                  <a:pt x="0" y="601149"/>
                </a:cubicBezTo>
                <a:lnTo>
                  <a:pt x="0" y="37569"/>
                </a:lnTo>
                <a:cubicBezTo>
                  <a:pt x="0" y="16834"/>
                  <a:pt x="16834" y="0"/>
                  <a:pt x="37569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787311" y="3745894"/>
            <a:ext cx="328752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🇩🇪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118059" y="3689536"/>
            <a:ext cx="892327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Germany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118059" y="3914966"/>
            <a:ext cx="882934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European Hub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0853862" y="3745894"/>
            <a:ext cx="760826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$211M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479224" y="4583741"/>
            <a:ext cx="4339525" cy="1390151"/>
          </a:xfrm>
          <a:custGeom>
            <a:rect b="b" l="l" r="r" t="t"/>
            <a:pathLst>
              <a:path extrusionOk="0" h="1390151" w="4339525">
                <a:moveTo>
                  <a:pt x="75138" y="0"/>
                </a:moveTo>
                <a:lnTo>
                  <a:pt x="4264388" y="0"/>
                </a:lnTo>
                <a:cubicBezTo>
                  <a:pt x="4305885" y="0"/>
                  <a:pt x="4339525" y="33640"/>
                  <a:pt x="4339525" y="75138"/>
                </a:cubicBezTo>
                <a:lnTo>
                  <a:pt x="4339525" y="1315013"/>
                </a:lnTo>
                <a:cubicBezTo>
                  <a:pt x="4339525" y="1356511"/>
                  <a:pt x="4305885" y="1390151"/>
                  <a:pt x="4264388" y="1390151"/>
                </a:cubicBezTo>
                <a:lnTo>
                  <a:pt x="75138" y="1390151"/>
                </a:lnTo>
                <a:cubicBezTo>
                  <a:pt x="33640" y="1390151"/>
                  <a:pt x="0" y="1356511"/>
                  <a:pt x="0" y="1315013"/>
                </a:cubicBezTo>
                <a:lnTo>
                  <a:pt x="0" y="75138"/>
                </a:lnTo>
                <a:cubicBezTo>
                  <a:pt x="0" y="33668"/>
                  <a:pt x="33668" y="0"/>
                  <a:pt x="75138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629510" y="4734028"/>
            <a:ext cx="4123488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1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Geographic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629510" y="5109744"/>
            <a:ext cx="4104703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1035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 Dominance:</a:t>
            </a: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Represents 50%+ of top 5 market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629510" y="5372746"/>
            <a:ext cx="4104703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1035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Asia-Pacific:</a:t>
            </a: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China shows strong second position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629510" y="5635747"/>
            <a:ext cx="4104703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1035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Expansion Opportunity:</a:t>
            </a: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Emerging markets underrepresented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79474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67767" y="6244408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39588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63%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689661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77954" y="6244408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China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2749775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17%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999847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088141" y="6244408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Europe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059962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15%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310151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7398445" y="6244408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Japan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370266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3%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9620338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9708632" y="6244408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Others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9680453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2%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/>
          <p:nvPr/>
        </p:nvSpPr>
        <p:spPr>
          <a:xfrm>
            <a:off x="365303" y="365303"/>
            <a:ext cx="11534454" cy="219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1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65303" y="657546"/>
            <a:ext cx="11680575" cy="438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2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Channel Performance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303" y="1205501"/>
            <a:ext cx="876728" cy="36530"/>
          </a:xfrm>
          <a:custGeom>
            <a:rect b="b" l="l" r="r" t="t"/>
            <a:pathLst>
              <a:path extrusionOk="0" h="36530" w="876728">
                <a:moveTo>
                  <a:pt x="0" y="0"/>
                </a:moveTo>
                <a:lnTo>
                  <a:pt x="876728" y="0"/>
                </a:lnTo>
                <a:lnTo>
                  <a:pt x="876728" y="36530"/>
                </a:lnTo>
                <a:lnTo>
                  <a:pt x="0" y="36530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65303" y="1424683"/>
            <a:ext cx="5808324" cy="4255784"/>
          </a:xfrm>
          <a:custGeom>
            <a:rect b="b" l="l" r="r" t="t"/>
            <a:pathLst>
              <a:path extrusionOk="0" h="4255784" w="5808324">
                <a:moveTo>
                  <a:pt x="73072" y="0"/>
                </a:moveTo>
                <a:lnTo>
                  <a:pt x="5735252" y="0"/>
                </a:lnTo>
                <a:cubicBezTo>
                  <a:pt x="5775581" y="0"/>
                  <a:pt x="5808324" y="32742"/>
                  <a:pt x="5808324" y="73072"/>
                </a:cubicBezTo>
                <a:lnTo>
                  <a:pt x="5808324" y="4182712"/>
                </a:lnTo>
                <a:cubicBezTo>
                  <a:pt x="5808324" y="4223069"/>
                  <a:pt x="5775608" y="4255784"/>
                  <a:pt x="5735252" y="4255784"/>
                </a:cubicBezTo>
                <a:lnTo>
                  <a:pt x="73072" y="4255784"/>
                </a:lnTo>
                <a:cubicBezTo>
                  <a:pt x="32742" y="4255784"/>
                  <a:pt x="0" y="4223042"/>
                  <a:pt x="0" y="4182712"/>
                </a:cubicBezTo>
                <a:lnTo>
                  <a:pt x="0" y="73072"/>
                </a:lnTo>
                <a:cubicBezTo>
                  <a:pt x="0" y="32742"/>
                  <a:pt x="32742" y="0"/>
                  <a:pt x="73072" y="0"/>
                </a:cubicBezTo>
                <a:close/>
              </a:path>
            </a:pathLst>
          </a:custGeom>
          <a:solidFill>
            <a:srgbClr val="2D3E5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47955" y="1607335"/>
            <a:ext cx="5534346" cy="25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8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Sales Distribution by Channel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kimi-img.moonshot.cn/pub/slides/26-02-10-19:01:57-d65h098h947fbirkldrg.png" id="233" name="Google Shape;2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955" y="1972638"/>
            <a:ext cx="5187308" cy="3470382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34" name="Google Shape;234;p7"/>
          <p:cNvSpPr/>
          <p:nvPr/>
        </p:nvSpPr>
        <p:spPr>
          <a:xfrm>
            <a:off x="6388699" y="1424683"/>
            <a:ext cx="5443020" cy="2557124"/>
          </a:xfrm>
          <a:custGeom>
            <a:rect b="b" l="l" r="r" t="t"/>
            <a:pathLst>
              <a:path extrusionOk="0" h="2557124" w="5443020">
                <a:moveTo>
                  <a:pt x="73057" y="0"/>
                </a:moveTo>
                <a:lnTo>
                  <a:pt x="5369963" y="0"/>
                </a:lnTo>
                <a:cubicBezTo>
                  <a:pt x="5410311" y="0"/>
                  <a:pt x="5443020" y="32709"/>
                  <a:pt x="5443020" y="73057"/>
                </a:cubicBezTo>
                <a:lnTo>
                  <a:pt x="5443020" y="2484067"/>
                </a:lnTo>
                <a:cubicBezTo>
                  <a:pt x="5443020" y="2524415"/>
                  <a:pt x="5410311" y="2557124"/>
                  <a:pt x="5369963" y="2557124"/>
                </a:cubicBezTo>
                <a:lnTo>
                  <a:pt x="73057" y="2557124"/>
                </a:lnTo>
                <a:cubicBezTo>
                  <a:pt x="32709" y="2557124"/>
                  <a:pt x="0" y="2524415"/>
                  <a:pt x="0" y="2484067"/>
                </a:cubicBezTo>
                <a:lnTo>
                  <a:pt x="0" y="73057"/>
                </a:lnTo>
                <a:cubicBezTo>
                  <a:pt x="0" y="32709"/>
                  <a:pt x="32709" y="0"/>
                  <a:pt x="73057" y="0"/>
                </a:cubicBezTo>
                <a:close/>
              </a:path>
            </a:pathLst>
          </a:custGeom>
          <a:solidFill>
            <a:srgbClr val="2D3E5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571351" y="1607335"/>
            <a:ext cx="5169043" cy="25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8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Sales by Store Type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kimi-img.moonshot.cn/pub/slides/26-02-10-19:01:57-d65h09bua3d8ibmvt9b0.png" id="236" name="Google Shape;2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1351" y="1972638"/>
            <a:ext cx="4822004" cy="182651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6392352" y="4131581"/>
            <a:ext cx="5432061" cy="1541580"/>
          </a:xfrm>
          <a:custGeom>
            <a:rect b="b" l="l" r="r" t="t"/>
            <a:pathLst>
              <a:path extrusionOk="0" h="1541580" w="5432061">
                <a:moveTo>
                  <a:pt x="73055" y="0"/>
                </a:moveTo>
                <a:lnTo>
                  <a:pt x="5359006" y="0"/>
                </a:lnTo>
                <a:cubicBezTo>
                  <a:pt x="5399353" y="0"/>
                  <a:pt x="5432061" y="32708"/>
                  <a:pt x="5432061" y="73055"/>
                </a:cubicBezTo>
                <a:lnTo>
                  <a:pt x="5432061" y="1468525"/>
                </a:lnTo>
                <a:cubicBezTo>
                  <a:pt x="5432061" y="1508872"/>
                  <a:pt x="5399353" y="1541580"/>
                  <a:pt x="5359006" y="1541580"/>
                </a:cubicBezTo>
                <a:lnTo>
                  <a:pt x="73055" y="1541580"/>
                </a:lnTo>
                <a:cubicBezTo>
                  <a:pt x="32708" y="1541580"/>
                  <a:pt x="0" y="1508872"/>
                  <a:pt x="0" y="1468525"/>
                </a:cubicBezTo>
                <a:lnTo>
                  <a:pt x="0" y="73055"/>
                </a:lnTo>
                <a:cubicBezTo>
                  <a:pt x="0" y="32735"/>
                  <a:pt x="32735" y="0"/>
                  <a:pt x="73055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542127" y="4281358"/>
            <a:ext cx="5214706" cy="25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4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Channel Strategy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542127" y="4646662"/>
            <a:ext cx="5196440" cy="365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7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Physical Dominance:</a:t>
            </a:r>
            <a:r>
              <a:rPr lang="en-US" sz="100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Store channel leads with 58% market share, indicating strong retail presence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542127" y="5085026"/>
            <a:ext cx="5196440" cy="182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7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Growth:</a:t>
            </a:r>
            <a:r>
              <a:rPr lang="en-US" sz="100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Online represents 20% - significant opportunity for expansion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542127" y="5340738"/>
            <a:ext cx="5196440" cy="182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7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Underperformers:</a:t>
            </a:r>
            <a:r>
              <a:rPr lang="en-US" sz="100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Reseller (13%) and Catalog (8%) channels need optimization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68956" y="5826590"/>
            <a:ext cx="2747081" cy="880379"/>
          </a:xfrm>
          <a:custGeom>
            <a:rect b="b" l="l" r="r" t="t"/>
            <a:pathLst>
              <a:path extrusionOk="0" h="1030156" w="2747081">
                <a:moveTo>
                  <a:pt x="73059" y="0"/>
                </a:moveTo>
                <a:lnTo>
                  <a:pt x="2674023" y="0"/>
                </a:lnTo>
                <a:cubicBezTo>
                  <a:pt x="2714372" y="0"/>
                  <a:pt x="2747081" y="32709"/>
                  <a:pt x="2747081" y="73059"/>
                </a:cubicBezTo>
                <a:lnTo>
                  <a:pt x="2747081" y="957097"/>
                </a:lnTo>
                <a:cubicBezTo>
                  <a:pt x="2747081" y="997446"/>
                  <a:pt x="2714372" y="1030156"/>
                  <a:pt x="2674023" y="1030156"/>
                </a:cubicBezTo>
                <a:lnTo>
                  <a:pt x="73059" y="1030156"/>
                </a:lnTo>
                <a:cubicBezTo>
                  <a:pt x="32736" y="1030156"/>
                  <a:pt x="0" y="997419"/>
                  <a:pt x="0" y="957097"/>
                </a:cubicBezTo>
                <a:lnTo>
                  <a:pt x="0" y="73059"/>
                </a:lnTo>
                <a:cubicBezTo>
                  <a:pt x="0" y="32736"/>
                  <a:pt x="32736" y="0"/>
                  <a:pt x="73059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86767" y="5976362"/>
            <a:ext cx="2511461" cy="182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50236" y="6195544"/>
            <a:ext cx="2584521" cy="328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$1bn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91333" y="6560848"/>
            <a:ext cx="2502328" cy="14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58%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271063" y="5826590"/>
            <a:ext cx="2747081" cy="880379"/>
          </a:xfrm>
          <a:custGeom>
            <a:rect b="b" l="l" r="r" t="t"/>
            <a:pathLst>
              <a:path extrusionOk="0" h="1030156" w="2747081">
                <a:moveTo>
                  <a:pt x="73059" y="0"/>
                </a:moveTo>
                <a:lnTo>
                  <a:pt x="2674023" y="0"/>
                </a:lnTo>
                <a:cubicBezTo>
                  <a:pt x="2714372" y="0"/>
                  <a:pt x="2747081" y="32709"/>
                  <a:pt x="2747081" y="73059"/>
                </a:cubicBezTo>
                <a:lnTo>
                  <a:pt x="2747081" y="957097"/>
                </a:lnTo>
                <a:cubicBezTo>
                  <a:pt x="2747081" y="997446"/>
                  <a:pt x="2714372" y="1030156"/>
                  <a:pt x="2674023" y="1030156"/>
                </a:cubicBezTo>
                <a:lnTo>
                  <a:pt x="73059" y="1030156"/>
                </a:lnTo>
                <a:cubicBezTo>
                  <a:pt x="32736" y="1030156"/>
                  <a:pt x="0" y="997419"/>
                  <a:pt x="0" y="957097"/>
                </a:cubicBezTo>
                <a:lnTo>
                  <a:pt x="0" y="73059"/>
                </a:lnTo>
                <a:cubicBezTo>
                  <a:pt x="0" y="32736"/>
                  <a:pt x="32736" y="0"/>
                  <a:pt x="73059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388874" y="5976362"/>
            <a:ext cx="2511461" cy="182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Online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352343" y="6195544"/>
            <a:ext cx="2584521" cy="328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$1bn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393440" y="6560848"/>
            <a:ext cx="2502328" cy="14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20%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173170" y="5826590"/>
            <a:ext cx="2747081" cy="880379"/>
          </a:xfrm>
          <a:custGeom>
            <a:rect b="b" l="l" r="r" t="t"/>
            <a:pathLst>
              <a:path extrusionOk="0" h="1030156" w="2747081">
                <a:moveTo>
                  <a:pt x="73059" y="0"/>
                </a:moveTo>
                <a:lnTo>
                  <a:pt x="2674023" y="0"/>
                </a:lnTo>
                <a:cubicBezTo>
                  <a:pt x="2714372" y="0"/>
                  <a:pt x="2747081" y="32709"/>
                  <a:pt x="2747081" y="73059"/>
                </a:cubicBezTo>
                <a:lnTo>
                  <a:pt x="2747081" y="957097"/>
                </a:lnTo>
                <a:cubicBezTo>
                  <a:pt x="2747081" y="997446"/>
                  <a:pt x="2714372" y="1030156"/>
                  <a:pt x="2674023" y="1030156"/>
                </a:cubicBezTo>
                <a:lnTo>
                  <a:pt x="73059" y="1030156"/>
                </a:lnTo>
                <a:cubicBezTo>
                  <a:pt x="32736" y="1030156"/>
                  <a:pt x="0" y="997419"/>
                  <a:pt x="0" y="957097"/>
                </a:cubicBezTo>
                <a:lnTo>
                  <a:pt x="0" y="73059"/>
                </a:lnTo>
                <a:cubicBezTo>
                  <a:pt x="0" y="32736"/>
                  <a:pt x="32736" y="0"/>
                  <a:pt x="7305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cap="flat" cmpd="sng" w="10150">
            <a:solidFill>
              <a:srgbClr val="FF6B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290981" y="5976362"/>
            <a:ext cx="2511461" cy="182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Reseller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254451" y="6195544"/>
            <a:ext cx="2584521" cy="328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>
                <a:solidFill>
                  <a:srgbClr val="FF6B6B"/>
                </a:solidFill>
                <a:latin typeface="Liter"/>
                <a:ea typeface="Liter"/>
                <a:cs typeface="Liter"/>
                <a:sym typeface="Liter"/>
              </a:rPr>
              <a:t>$0bn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295547" y="6560848"/>
            <a:ext cx="2502328" cy="14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13%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9075277" y="5826590"/>
            <a:ext cx="2747081" cy="880379"/>
          </a:xfrm>
          <a:custGeom>
            <a:rect b="b" l="l" r="r" t="t"/>
            <a:pathLst>
              <a:path extrusionOk="0" h="1030156" w="2747081">
                <a:moveTo>
                  <a:pt x="73059" y="0"/>
                </a:moveTo>
                <a:lnTo>
                  <a:pt x="2674023" y="0"/>
                </a:lnTo>
                <a:cubicBezTo>
                  <a:pt x="2714372" y="0"/>
                  <a:pt x="2747081" y="32709"/>
                  <a:pt x="2747081" y="73059"/>
                </a:cubicBezTo>
                <a:lnTo>
                  <a:pt x="2747081" y="957097"/>
                </a:lnTo>
                <a:cubicBezTo>
                  <a:pt x="2747081" y="997446"/>
                  <a:pt x="2714372" y="1030156"/>
                  <a:pt x="2674023" y="1030156"/>
                </a:cubicBezTo>
                <a:lnTo>
                  <a:pt x="73059" y="1030156"/>
                </a:lnTo>
                <a:cubicBezTo>
                  <a:pt x="32736" y="1030156"/>
                  <a:pt x="0" y="997419"/>
                  <a:pt x="0" y="957097"/>
                </a:cubicBezTo>
                <a:lnTo>
                  <a:pt x="0" y="73059"/>
                </a:lnTo>
                <a:cubicBezTo>
                  <a:pt x="0" y="32736"/>
                  <a:pt x="32736" y="0"/>
                  <a:pt x="7305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cap="flat" cmpd="sng" w="10150">
            <a:solidFill>
              <a:srgbClr val="FF6B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9193088" y="5976362"/>
            <a:ext cx="2511461" cy="182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Catalog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9156557" y="6195544"/>
            <a:ext cx="2584521" cy="328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7">
                <a:solidFill>
                  <a:srgbClr val="FF6B6B"/>
                </a:solidFill>
                <a:latin typeface="Liter"/>
                <a:ea typeface="Liter"/>
                <a:cs typeface="Liter"/>
                <a:sym typeface="Liter"/>
              </a:rPr>
              <a:t>$0bn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9197654" y="6560848"/>
            <a:ext cx="2502328" cy="14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8%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71707" y="669073"/>
            <a:ext cx="11671610" cy="446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2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Temporal Sales Trends (2011-2014)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71707" y="1226634"/>
            <a:ext cx="892098" cy="37171"/>
          </a:xfrm>
          <a:custGeom>
            <a:rect b="b" l="l" r="r" t="t"/>
            <a:pathLst>
              <a:path extrusionOk="0" h="37171" w="892098">
                <a:moveTo>
                  <a:pt x="0" y="0"/>
                </a:moveTo>
                <a:lnTo>
                  <a:pt x="892098" y="0"/>
                </a:lnTo>
                <a:lnTo>
                  <a:pt x="892098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71707" y="1449659"/>
            <a:ext cx="11448585" cy="4274634"/>
          </a:xfrm>
          <a:custGeom>
            <a:rect b="b" l="l" r="r" t="t"/>
            <a:pathLst>
              <a:path extrusionOk="0" h="4274634" w="11448585">
                <a:moveTo>
                  <a:pt x="74336" y="0"/>
                </a:moveTo>
                <a:lnTo>
                  <a:pt x="11374249" y="0"/>
                </a:lnTo>
                <a:cubicBezTo>
                  <a:pt x="11415304" y="0"/>
                  <a:pt x="11448585" y="33281"/>
                  <a:pt x="11448585" y="74336"/>
                </a:cubicBezTo>
                <a:lnTo>
                  <a:pt x="11448585" y="4200298"/>
                </a:lnTo>
                <a:cubicBezTo>
                  <a:pt x="11448585" y="4241353"/>
                  <a:pt x="11415304" y="4274634"/>
                  <a:pt x="11374249" y="4274634"/>
                </a:cubicBezTo>
                <a:lnTo>
                  <a:pt x="74336" y="4274634"/>
                </a:lnTo>
                <a:cubicBezTo>
                  <a:pt x="33281" y="4274634"/>
                  <a:pt x="0" y="4241353"/>
                  <a:pt x="0" y="4200298"/>
                </a:cubicBezTo>
                <a:lnTo>
                  <a:pt x="0" y="74336"/>
                </a:lnTo>
                <a:cubicBezTo>
                  <a:pt x="0" y="33309"/>
                  <a:pt x="33309" y="0"/>
                  <a:pt x="74336" y="0"/>
                </a:cubicBezTo>
                <a:close/>
              </a:path>
            </a:pathLst>
          </a:custGeom>
          <a:solidFill>
            <a:srgbClr val="2D3E5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kimi-img.moonshot.cn/pub/slides/26-02-10-19:01:57-d65h09bfoslr09rn5jcg.png" id="267" name="Google Shape;2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561" y="1635512"/>
            <a:ext cx="10779512" cy="390292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68" name="Google Shape;268;p8"/>
          <p:cNvSpPr/>
          <p:nvPr/>
        </p:nvSpPr>
        <p:spPr>
          <a:xfrm>
            <a:off x="375424" y="5876694"/>
            <a:ext cx="2739483" cy="891660"/>
          </a:xfrm>
          <a:custGeom>
            <a:rect b="b" l="l" r="r" t="t"/>
            <a:pathLst>
              <a:path extrusionOk="0" h="973873" w="2739483">
                <a:moveTo>
                  <a:pt x="74345" y="0"/>
                </a:moveTo>
                <a:lnTo>
                  <a:pt x="2665137" y="0"/>
                </a:lnTo>
                <a:cubicBezTo>
                  <a:pt x="2706197" y="0"/>
                  <a:pt x="2739483" y="33286"/>
                  <a:pt x="2739483" y="74345"/>
                </a:cubicBezTo>
                <a:lnTo>
                  <a:pt x="2739483" y="899528"/>
                </a:lnTo>
                <a:cubicBezTo>
                  <a:pt x="2739483" y="940588"/>
                  <a:pt x="2706197" y="973873"/>
                  <a:pt x="2665137" y="973873"/>
                </a:cubicBezTo>
                <a:lnTo>
                  <a:pt x="74345" y="973873"/>
                </a:lnTo>
                <a:cubicBezTo>
                  <a:pt x="33286" y="973873"/>
                  <a:pt x="0" y="940588"/>
                  <a:pt x="0" y="899528"/>
                </a:cubicBezTo>
                <a:lnTo>
                  <a:pt x="0" y="74345"/>
                </a:lnTo>
                <a:cubicBezTo>
                  <a:pt x="0" y="33286"/>
                  <a:pt x="33286" y="0"/>
                  <a:pt x="74345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51056" y="6047681"/>
            <a:ext cx="185854" cy="185854"/>
          </a:xfrm>
          <a:custGeom>
            <a:rect b="b" l="l" r="r" t="t"/>
            <a:pathLst>
              <a:path extrusionOk="0" h="185854" w="185854">
                <a:moveTo>
                  <a:pt x="23232" y="23232"/>
                </a:moveTo>
                <a:cubicBezTo>
                  <a:pt x="23232" y="16807"/>
                  <a:pt x="18041" y="11616"/>
                  <a:pt x="11616" y="11616"/>
                </a:cubicBezTo>
                <a:cubicBezTo>
                  <a:pt x="5191" y="11616"/>
                  <a:pt x="0" y="16807"/>
                  <a:pt x="0" y="23232"/>
                </a:cubicBezTo>
                <a:lnTo>
                  <a:pt x="0" y="145198"/>
                </a:lnTo>
                <a:cubicBezTo>
                  <a:pt x="0" y="161243"/>
                  <a:pt x="12995" y="174238"/>
                  <a:pt x="29040" y="174238"/>
                </a:cubicBezTo>
                <a:lnTo>
                  <a:pt x="174238" y="174238"/>
                </a:lnTo>
                <a:cubicBezTo>
                  <a:pt x="180663" y="174238"/>
                  <a:pt x="185854" y="169047"/>
                  <a:pt x="185854" y="162622"/>
                </a:cubicBezTo>
                <a:cubicBezTo>
                  <a:pt x="185854" y="156197"/>
                  <a:pt x="180663" y="151006"/>
                  <a:pt x="174238" y="151006"/>
                </a:cubicBezTo>
                <a:lnTo>
                  <a:pt x="29040" y="151006"/>
                </a:lnTo>
                <a:cubicBezTo>
                  <a:pt x="25845" y="151006"/>
                  <a:pt x="23232" y="148393"/>
                  <a:pt x="23232" y="145198"/>
                </a:cubicBezTo>
                <a:lnTo>
                  <a:pt x="23232" y="23232"/>
                </a:lnTo>
                <a:close/>
                <a:moveTo>
                  <a:pt x="170826" y="54667"/>
                </a:moveTo>
                <a:cubicBezTo>
                  <a:pt x="175363" y="50130"/>
                  <a:pt x="175363" y="42761"/>
                  <a:pt x="170826" y="38223"/>
                </a:cubicBezTo>
                <a:cubicBezTo>
                  <a:pt x="166288" y="33686"/>
                  <a:pt x="158919" y="33686"/>
                  <a:pt x="154382" y="38223"/>
                </a:cubicBezTo>
                <a:lnTo>
                  <a:pt x="116159" y="76483"/>
                </a:lnTo>
                <a:lnTo>
                  <a:pt x="95323" y="55683"/>
                </a:lnTo>
                <a:cubicBezTo>
                  <a:pt x="90785" y="51146"/>
                  <a:pt x="83416" y="51146"/>
                  <a:pt x="78879" y="55683"/>
                </a:cubicBezTo>
                <a:lnTo>
                  <a:pt x="44031" y="90531"/>
                </a:lnTo>
                <a:cubicBezTo>
                  <a:pt x="39494" y="95069"/>
                  <a:pt x="39494" y="102437"/>
                  <a:pt x="44031" y="106975"/>
                </a:cubicBezTo>
                <a:cubicBezTo>
                  <a:pt x="48569" y="111512"/>
                  <a:pt x="55938" y="111512"/>
                  <a:pt x="60475" y="106975"/>
                </a:cubicBezTo>
                <a:lnTo>
                  <a:pt x="87119" y="80331"/>
                </a:lnTo>
                <a:lnTo>
                  <a:pt x="107955" y="101167"/>
                </a:lnTo>
                <a:cubicBezTo>
                  <a:pt x="112492" y="105704"/>
                  <a:pt x="119861" y="105704"/>
                  <a:pt x="124399" y="101167"/>
                </a:cubicBezTo>
                <a:lnTo>
                  <a:pt x="170862" y="54703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871654" y="6029095"/>
            <a:ext cx="873512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Peak Season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27824" y="6326461"/>
            <a:ext cx="2499732" cy="371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October-December consistently shows highest sales across all years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274741" y="5876693"/>
            <a:ext cx="2739483" cy="891661"/>
          </a:xfrm>
          <a:custGeom>
            <a:rect b="b" l="l" r="r" t="t"/>
            <a:pathLst>
              <a:path extrusionOk="0" h="973873" w="2739483">
                <a:moveTo>
                  <a:pt x="74345" y="0"/>
                </a:moveTo>
                <a:lnTo>
                  <a:pt x="2665137" y="0"/>
                </a:lnTo>
                <a:cubicBezTo>
                  <a:pt x="2706197" y="0"/>
                  <a:pt x="2739483" y="33286"/>
                  <a:pt x="2739483" y="74345"/>
                </a:cubicBezTo>
                <a:lnTo>
                  <a:pt x="2739483" y="899528"/>
                </a:lnTo>
                <a:cubicBezTo>
                  <a:pt x="2739483" y="940588"/>
                  <a:pt x="2706197" y="973873"/>
                  <a:pt x="2665137" y="973873"/>
                </a:cubicBezTo>
                <a:lnTo>
                  <a:pt x="74345" y="973873"/>
                </a:lnTo>
                <a:cubicBezTo>
                  <a:pt x="33286" y="973873"/>
                  <a:pt x="0" y="940588"/>
                  <a:pt x="0" y="899528"/>
                </a:cubicBezTo>
                <a:lnTo>
                  <a:pt x="0" y="74345"/>
                </a:lnTo>
                <a:cubicBezTo>
                  <a:pt x="0" y="33286"/>
                  <a:pt x="33286" y="0"/>
                  <a:pt x="74345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461989" y="6047681"/>
            <a:ext cx="162622" cy="185854"/>
          </a:xfrm>
          <a:custGeom>
            <a:rect b="b" l="l" r="r" t="t"/>
            <a:pathLst>
              <a:path extrusionOk="0" h="185854" w="162622">
                <a:moveTo>
                  <a:pt x="46463" y="0"/>
                </a:moveTo>
                <a:cubicBezTo>
                  <a:pt x="52888" y="0"/>
                  <a:pt x="58079" y="5191"/>
                  <a:pt x="58079" y="11616"/>
                </a:cubicBezTo>
                <a:lnTo>
                  <a:pt x="58079" y="23232"/>
                </a:lnTo>
                <a:lnTo>
                  <a:pt x="104543" y="23232"/>
                </a:lnTo>
                <a:lnTo>
                  <a:pt x="104543" y="11616"/>
                </a:lnTo>
                <a:cubicBezTo>
                  <a:pt x="104543" y="5191"/>
                  <a:pt x="109734" y="0"/>
                  <a:pt x="116159" y="0"/>
                </a:cubicBezTo>
                <a:cubicBezTo>
                  <a:pt x="122584" y="0"/>
                  <a:pt x="127774" y="5191"/>
                  <a:pt x="127774" y="11616"/>
                </a:cubicBezTo>
                <a:lnTo>
                  <a:pt x="127774" y="23232"/>
                </a:lnTo>
                <a:lnTo>
                  <a:pt x="139390" y="23232"/>
                </a:lnTo>
                <a:cubicBezTo>
                  <a:pt x="152204" y="23232"/>
                  <a:pt x="162622" y="33650"/>
                  <a:pt x="162622" y="46463"/>
                </a:cubicBezTo>
                <a:lnTo>
                  <a:pt x="162622" y="151006"/>
                </a:lnTo>
                <a:cubicBezTo>
                  <a:pt x="162622" y="163820"/>
                  <a:pt x="152204" y="174238"/>
                  <a:pt x="139390" y="174238"/>
                </a:cubicBezTo>
                <a:lnTo>
                  <a:pt x="23232" y="174238"/>
                </a:lnTo>
                <a:cubicBezTo>
                  <a:pt x="10418" y="174238"/>
                  <a:pt x="0" y="163820"/>
                  <a:pt x="0" y="151006"/>
                </a:cubicBezTo>
                <a:lnTo>
                  <a:pt x="0" y="46463"/>
                </a:lnTo>
                <a:cubicBezTo>
                  <a:pt x="0" y="33650"/>
                  <a:pt x="10418" y="23232"/>
                  <a:pt x="23232" y="23232"/>
                </a:cubicBezTo>
                <a:lnTo>
                  <a:pt x="34848" y="23232"/>
                </a:lnTo>
                <a:lnTo>
                  <a:pt x="34848" y="11616"/>
                </a:lnTo>
                <a:cubicBezTo>
                  <a:pt x="34848" y="5191"/>
                  <a:pt x="40038" y="0"/>
                  <a:pt x="46463" y="0"/>
                </a:cubicBezTo>
                <a:close/>
                <a:moveTo>
                  <a:pt x="111948" y="83017"/>
                </a:moveTo>
                <a:cubicBezTo>
                  <a:pt x="114489" y="78952"/>
                  <a:pt x="113255" y="73579"/>
                  <a:pt x="109189" y="71002"/>
                </a:cubicBezTo>
                <a:cubicBezTo>
                  <a:pt x="105123" y="68425"/>
                  <a:pt x="99751" y="69695"/>
                  <a:pt x="97174" y="73761"/>
                </a:cubicBezTo>
                <a:lnTo>
                  <a:pt x="74886" y="109443"/>
                </a:lnTo>
                <a:lnTo>
                  <a:pt x="65085" y="96375"/>
                </a:lnTo>
                <a:cubicBezTo>
                  <a:pt x="62181" y="92528"/>
                  <a:pt x="56736" y="91729"/>
                  <a:pt x="52888" y="94633"/>
                </a:cubicBezTo>
                <a:cubicBezTo>
                  <a:pt x="49041" y="97537"/>
                  <a:pt x="48242" y="102982"/>
                  <a:pt x="51146" y="106830"/>
                </a:cubicBezTo>
                <a:lnTo>
                  <a:pt x="68570" y="130061"/>
                </a:lnTo>
                <a:cubicBezTo>
                  <a:pt x="70276" y="132348"/>
                  <a:pt x="73035" y="133655"/>
                  <a:pt x="75902" y="133546"/>
                </a:cubicBezTo>
                <a:cubicBezTo>
                  <a:pt x="78770" y="133437"/>
                  <a:pt x="81384" y="131913"/>
                  <a:pt x="82908" y="129444"/>
                </a:cubicBezTo>
                <a:lnTo>
                  <a:pt x="111948" y="82981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770971" y="6029095"/>
            <a:ext cx="1050073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Growth Pattern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427142" y="6326461"/>
            <a:ext cx="2499732" cy="371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2011 shows strongest baseline; subsequent years demonstrate stability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174059" y="5876694"/>
            <a:ext cx="2739483" cy="891660"/>
          </a:xfrm>
          <a:custGeom>
            <a:rect b="b" l="l" r="r" t="t"/>
            <a:pathLst>
              <a:path extrusionOk="0" h="973873" w="2739483">
                <a:moveTo>
                  <a:pt x="74345" y="0"/>
                </a:moveTo>
                <a:lnTo>
                  <a:pt x="2665137" y="0"/>
                </a:lnTo>
                <a:cubicBezTo>
                  <a:pt x="2706197" y="0"/>
                  <a:pt x="2739483" y="33286"/>
                  <a:pt x="2739483" y="74345"/>
                </a:cubicBezTo>
                <a:lnTo>
                  <a:pt x="2739483" y="899528"/>
                </a:lnTo>
                <a:cubicBezTo>
                  <a:pt x="2739483" y="940588"/>
                  <a:pt x="2706197" y="973873"/>
                  <a:pt x="2665137" y="973873"/>
                </a:cubicBezTo>
                <a:lnTo>
                  <a:pt x="74345" y="973873"/>
                </a:lnTo>
                <a:cubicBezTo>
                  <a:pt x="33286" y="973873"/>
                  <a:pt x="0" y="940588"/>
                  <a:pt x="0" y="899528"/>
                </a:cubicBezTo>
                <a:lnTo>
                  <a:pt x="0" y="74345"/>
                </a:lnTo>
                <a:cubicBezTo>
                  <a:pt x="0" y="33286"/>
                  <a:pt x="33286" y="0"/>
                  <a:pt x="74345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cap="flat" cmpd="sng" w="10150">
            <a:solidFill>
              <a:srgbClr val="FF6B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349690" y="6047681"/>
            <a:ext cx="185854" cy="185854"/>
          </a:xfrm>
          <a:custGeom>
            <a:rect b="b" l="l" r="r" t="t"/>
            <a:pathLst>
              <a:path extrusionOk="0" h="185854" w="185854">
                <a:moveTo>
                  <a:pt x="92927" y="0"/>
                </a:moveTo>
                <a:cubicBezTo>
                  <a:pt x="98263" y="0"/>
                  <a:pt x="103163" y="2940"/>
                  <a:pt x="105704" y="7623"/>
                </a:cubicBezTo>
                <a:lnTo>
                  <a:pt x="184111" y="152821"/>
                </a:lnTo>
                <a:cubicBezTo>
                  <a:pt x="186543" y="157322"/>
                  <a:pt x="186434" y="162767"/>
                  <a:pt x="183821" y="167159"/>
                </a:cubicBezTo>
                <a:cubicBezTo>
                  <a:pt x="181207" y="171552"/>
                  <a:pt x="176452" y="174238"/>
                  <a:pt x="171334" y="174238"/>
                </a:cubicBezTo>
                <a:lnTo>
                  <a:pt x="14520" y="174238"/>
                </a:lnTo>
                <a:cubicBezTo>
                  <a:pt x="9402" y="174238"/>
                  <a:pt x="4683" y="171552"/>
                  <a:pt x="2033" y="167159"/>
                </a:cubicBezTo>
                <a:cubicBezTo>
                  <a:pt x="-617" y="162767"/>
                  <a:pt x="-690" y="157322"/>
                  <a:pt x="1742" y="152821"/>
                </a:cubicBezTo>
                <a:lnTo>
                  <a:pt x="80149" y="7623"/>
                </a:lnTo>
                <a:cubicBezTo>
                  <a:pt x="82690" y="2940"/>
                  <a:pt x="87591" y="0"/>
                  <a:pt x="92927" y="0"/>
                </a:cubicBezTo>
                <a:close/>
                <a:moveTo>
                  <a:pt x="92927" y="60983"/>
                </a:moveTo>
                <a:cubicBezTo>
                  <a:pt x="88099" y="60983"/>
                  <a:pt x="84215" y="64867"/>
                  <a:pt x="84215" y="69695"/>
                </a:cubicBezTo>
                <a:lnTo>
                  <a:pt x="84215" y="110351"/>
                </a:lnTo>
                <a:cubicBezTo>
                  <a:pt x="84215" y="115178"/>
                  <a:pt x="88099" y="119063"/>
                  <a:pt x="92927" y="119063"/>
                </a:cubicBezTo>
                <a:cubicBezTo>
                  <a:pt x="97755" y="119063"/>
                  <a:pt x="101639" y="115178"/>
                  <a:pt x="101639" y="110351"/>
                </a:cubicBezTo>
                <a:lnTo>
                  <a:pt x="101639" y="69695"/>
                </a:lnTo>
                <a:cubicBezTo>
                  <a:pt x="101639" y="64867"/>
                  <a:pt x="97755" y="60983"/>
                  <a:pt x="92927" y="60983"/>
                </a:cubicBezTo>
                <a:close/>
                <a:moveTo>
                  <a:pt x="102619" y="139390"/>
                </a:moveTo>
                <a:cubicBezTo>
                  <a:pt x="102839" y="135793"/>
                  <a:pt x="101045" y="132370"/>
                  <a:pt x="97961" y="130504"/>
                </a:cubicBezTo>
                <a:cubicBezTo>
                  <a:pt x="94877" y="128639"/>
                  <a:pt x="91013" y="128639"/>
                  <a:pt x="87929" y="130504"/>
                </a:cubicBezTo>
                <a:cubicBezTo>
                  <a:pt x="84845" y="132370"/>
                  <a:pt x="83051" y="135793"/>
                  <a:pt x="83271" y="139390"/>
                </a:cubicBezTo>
                <a:cubicBezTo>
                  <a:pt x="83051" y="142988"/>
                  <a:pt x="84845" y="146411"/>
                  <a:pt x="87929" y="148276"/>
                </a:cubicBezTo>
                <a:cubicBezTo>
                  <a:pt x="91013" y="150141"/>
                  <a:pt x="94877" y="150141"/>
                  <a:pt x="97961" y="148276"/>
                </a:cubicBezTo>
                <a:cubicBezTo>
                  <a:pt x="101045" y="146411"/>
                  <a:pt x="102839" y="142988"/>
                  <a:pt x="102619" y="13939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670288" y="6029095"/>
            <a:ext cx="799171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Period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326458" y="6326461"/>
            <a:ext cx="2499732" cy="371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February-March typically shows seasonal dip requiring promotional support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9073376" y="5876693"/>
            <a:ext cx="2739483" cy="891661"/>
          </a:xfrm>
          <a:custGeom>
            <a:rect b="b" l="l" r="r" t="t"/>
            <a:pathLst>
              <a:path extrusionOk="0" h="973873" w="2739483">
                <a:moveTo>
                  <a:pt x="74345" y="0"/>
                </a:moveTo>
                <a:lnTo>
                  <a:pt x="2665137" y="0"/>
                </a:lnTo>
                <a:cubicBezTo>
                  <a:pt x="2706197" y="0"/>
                  <a:pt x="2739483" y="33286"/>
                  <a:pt x="2739483" y="74345"/>
                </a:cubicBezTo>
                <a:lnTo>
                  <a:pt x="2739483" y="899528"/>
                </a:lnTo>
                <a:cubicBezTo>
                  <a:pt x="2739483" y="940588"/>
                  <a:pt x="2706197" y="973873"/>
                  <a:pt x="2665137" y="973873"/>
                </a:cubicBezTo>
                <a:lnTo>
                  <a:pt x="74345" y="973873"/>
                </a:lnTo>
                <a:cubicBezTo>
                  <a:pt x="33286" y="973873"/>
                  <a:pt x="0" y="940588"/>
                  <a:pt x="0" y="899528"/>
                </a:cubicBezTo>
                <a:lnTo>
                  <a:pt x="0" y="74345"/>
                </a:lnTo>
                <a:cubicBezTo>
                  <a:pt x="0" y="33286"/>
                  <a:pt x="33286" y="0"/>
                  <a:pt x="74345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9225775" y="6047681"/>
            <a:ext cx="232317" cy="185854"/>
          </a:xfrm>
          <a:custGeom>
            <a:rect b="b" l="l" r="r" t="t"/>
            <a:pathLst>
              <a:path extrusionOk="0" h="185854" w="232317">
                <a:moveTo>
                  <a:pt x="139390" y="11616"/>
                </a:moveTo>
                <a:lnTo>
                  <a:pt x="185854" y="11616"/>
                </a:lnTo>
                <a:cubicBezTo>
                  <a:pt x="192279" y="11616"/>
                  <a:pt x="197470" y="16807"/>
                  <a:pt x="197470" y="23232"/>
                </a:cubicBezTo>
                <a:cubicBezTo>
                  <a:pt x="197470" y="29657"/>
                  <a:pt x="192279" y="34848"/>
                  <a:pt x="185854" y="34848"/>
                </a:cubicBezTo>
                <a:lnTo>
                  <a:pt x="144617" y="34848"/>
                </a:lnTo>
                <a:cubicBezTo>
                  <a:pt x="142730" y="44213"/>
                  <a:pt x="136305" y="51945"/>
                  <a:pt x="127774" y="55647"/>
                </a:cubicBezTo>
                <a:lnTo>
                  <a:pt x="127774" y="162622"/>
                </a:lnTo>
                <a:lnTo>
                  <a:pt x="185854" y="162622"/>
                </a:lnTo>
                <a:cubicBezTo>
                  <a:pt x="192279" y="162622"/>
                  <a:pt x="197470" y="167813"/>
                  <a:pt x="197470" y="174238"/>
                </a:cubicBezTo>
                <a:cubicBezTo>
                  <a:pt x="197470" y="180663"/>
                  <a:pt x="192279" y="185854"/>
                  <a:pt x="185854" y="185854"/>
                </a:cubicBezTo>
                <a:lnTo>
                  <a:pt x="46463" y="185854"/>
                </a:lnTo>
                <a:cubicBezTo>
                  <a:pt x="40038" y="185854"/>
                  <a:pt x="34848" y="180663"/>
                  <a:pt x="34848" y="174238"/>
                </a:cubicBezTo>
                <a:cubicBezTo>
                  <a:pt x="34848" y="167813"/>
                  <a:pt x="40038" y="162622"/>
                  <a:pt x="46463" y="162622"/>
                </a:cubicBezTo>
                <a:lnTo>
                  <a:pt x="104543" y="162622"/>
                </a:lnTo>
                <a:lnTo>
                  <a:pt x="104543" y="55647"/>
                </a:lnTo>
                <a:cubicBezTo>
                  <a:pt x="96012" y="51908"/>
                  <a:pt x="89587" y="44177"/>
                  <a:pt x="87700" y="34848"/>
                </a:cubicBezTo>
                <a:lnTo>
                  <a:pt x="46463" y="34848"/>
                </a:lnTo>
                <a:cubicBezTo>
                  <a:pt x="40038" y="34848"/>
                  <a:pt x="34848" y="29657"/>
                  <a:pt x="34848" y="23232"/>
                </a:cubicBezTo>
                <a:cubicBezTo>
                  <a:pt x="34848" y="16807"/>
                  <a:pt x="40038" y="11616"/>
                  <a:pt x="46463" y="11616"/>
                </a:cubicBezTo>
                <a:lnTo>
                  <a:pt x="92927" y="11616"/>
                </a:lnTo>
                <a:cubicBezTo>
                  <a:pt x="98227" y="4574"/>
                  <a:pt x="106648" y="0"/>
                  <a:pt x="116159" y="0"/>
                </a:cubicBezTo>
                <a:cubicBezTo>
                  <a:pt x="125669" y="0"/>
                  <a:pt x="134091" y="4574"/>
                  <a:pt x="139390" y="11616"/>
                </a:cubicBezTo>
                <a:close/>
                <a:moveTo>
                  <a:pt x="159573" y="116159"/>
                </a:moveTo>
                <a:lnTo>
                  <a:pt x="212135" y="116159"/>
                </a:lnTo>
                <a:lnTo>
                  <a:pt x="185854" y="71075"/>
                </a:lnTo>
                <a:lnTo>
                  <a:pt x="159573" y="116159"/>
                </a:lnTo>
                <a:close/>
                <a:moveTo>
                  <a:pt x="185854" y="151006"/>
                </a:moveTo>
                <a:cubicBezTo>
                  <a:pt x="163021" y="151006"/>
                  <a:pt x="144037" y="138664"/>
                  <a:pt x="140116" y="122366"/>
                </a:cubicBezTo>
                <a:cubicBezTo>
                  <a:pt x="139172" y="118373"/>
                  <a:pt x="140479" y="114271"/>
                  <a:pt x="142548" y="110714"/>
                </a:cubicBezTo>
                <a:lnTo>
                  <a:pt x="177105" y="51473"/>
                </a:lnTo>
                <a:cubicBezTo>
                  <a:pt x="178920" y="48351"/>
                  <a:pt x="182260" y="46463"/>
                  <a:pt x="185854" y="46463"/>
                </a:cubicBezTo>
                <a:cubicBezTo>
                  <a:pt x="189447" y="46463"/>
                  <a:pt x="192787" y="48387"/>
                  <a:pt x="194602" y="51473"/>
                </a:cubicBezTo>
                <a:lnTo>
                  <a:pt x="229159" y="110714"/>
                </a:lnTo>
                <a:cubicBezTo>
                  <a:pt x="231228" y="114271"/>
                  <a:pt x="232535" y="118373"/>
                  <a:pt x="231591" y="122366"/>
                </a:cubicBezTo>
                <a:cubicBezTo>
                  <a:pt x="227671" y="138628"/>
                  <a:pt x="208686" y="151006"/>
                  <a:pt x="185854" y="151006"/>
                </a:cubicBezTo>
                <a:close/>
                <a:moveTo>
                  <a:pt x="46028" y="71075"/>
                </a:moveTo>
                <a:lnTo>
                  <a:pt x="19747" y="116159"/>
                </a:lnTo>
                <a:lnTo>
                  <a:pt x="72345" y="116159"/>
                </a:lnTo>
                <a:lnTo>
                  <a:pt x="46028" y="71075"/>
                </a:lnTo>
                <a:close/>
                <a:moveTo>
                  <a:pt x="327" y="122366"/>
                </a:moveTo>
                <a:cubicBezTo>
                  <a:pt x="-617" y="118373"/>
                  <a:pt x="690" y="114271"/>
                  <a:pt x="2759" y="110714"/>
                </a:cubicBezTo>
                <a:lnTo>
                  <a:pt x="37316" y="51473"/>
                </a:lnTo>
                <a:cubicBezTo>
                  <a:pt x="39131" y="48351"/>
                  <a:pt x="42470" y="46463"/>
                  <a:pt x="46064" y="46463"/>
                </a:cubicBezTo>
                <a:cubicBezTo>
                  <a:pt x="49658" y="46463"/>
                  <a:pt x="52997" y="48387"/>
                  <a:pt x="54812" y="51473"/>
                </a:cubicBezTo>
                <a:lnTo>
                  <a:pt x="89369" y="110714"/>
                </a:lnTo>
                <a:cubicBezTo>
                  <a:pt x="91439" y="114271"/>
                  <a:pt x="92745" y="118373"/>
                  <a:pt x="91802" y="122366"/>
                </a:cubicBezTo>
                <a:cubicBezTo>
                  <a:pt x="87881" y="138628"/>
                  <a:pt x="68897" y="151006"/>
                  <a:pt x="46064" y="151006"/>
                </a:cubicBezTo>
                <a:cubicBezTo>
                  <a:pt x="23232" y="151006"/>
                  <a:pt x="4247" y="138664"/>
                  <a:pt x="327" y="122366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9569605" y="6029095"/>
            <a:ext cx="631902" cy="223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Volatility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9225775" y="6326461"/>
            <a:ext cx="2499732" cy="371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Moderate month-to-month variation indicates stable demand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/>
          <p:nvPr/>
        </p:nvSpPr>
        <p:spPr>
          <a:xfrm>
            <a:off x="375716" y="375716"/>
            <a:ext cx="11515710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375716" y="676290"/>
            <a:ext cx="11665997" cy="45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Brand Performance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75716" y="1239864"/>
            <a:ext cx="901720" cy="37572"/>
          </a:xfrm>
          <a:custGeom>
            <a:rect b="b" l="l" r="r" t="t"/>
            <a:pathLst>
              <a:path extrusionOk="0" h="37572" w="901720">
                <a:moveTo>
                  <a:pt x="0" y="0"/>
                </a:moveTo>
                <a:lnTo>
                  <a:pt x="901720" y="0"/>
                </a:lnTo>
                <a:lnTo>
                  <a:pt x="901720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75716" y="1465294"/>
            <a:ext cx="7420401" cy="4508598"/>
          </a:xfrm>
          <a:custGeom>
            <a:rect b="b" l="l" r="r" t="t"/>
            <a:pathLst>
              <a:path extrusionOk="0" h="4508598" w="7420401">
                <a:moveTo>
                  <a:pt x="75158" y="0"/>
                </a:moveTo>
                <a:lnTo>
                  <a:pt x="7345242" y="0"/>
                </a:lnTo>
                <a:cubicBezTo>
                  <a:pt x="7386751" y="0"/>
                  <a:pt x="7420401" y="33650"/>
                  <a:pt x="7420401" y="75158"/>
                </a:cubicBezTo>
                <a:lnTo>
                  <a:pt x="7420401" y="4433440"/>
                </a:lnTo>
                <a:cubicBezTo>
                  <a:pt x="7420401" y="4474948"/>
                  <a:pt x="7386751" y="4508598"/>
                  <a:pt x="7345242" y="4508598"/>
                </a:cubicBezTo>
                <a:lnTo>
                  <a:pt x="75158" y="4508598"/>
                </a:lnTo>
                <a:cubicBezTo>
                  <a:pt x="33650" y="4508598"/>
                  <a:pt x="0" y="4474948"/>
                  <a:pt x="0" y="4433440"/>
                </a:cubicBezTo>
                <a:lnTo>
                  <a:pt x="0" y="75158"/>
                </a:lnTo>
                <a:cubicBezTo>
                  <a:pt x="0" y="33650"/>
                  <a:pt x="33650" y="0"/>
                  <a:pt x="75158" y="0"/>
                </a:cubicBezTo>
                <a:close/>
              </a:path>
            </a:pathLst>
          </a:custGeom>
          <a:solidFill>
            <a:srgbClr val="2D3E5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63575" y="1653153"/>
            <a:ext cx="7138613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9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Brand Ranking: Sales vs Quantity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kimi-img.moonshot.cn/pub/slides/26-02-10-19:01:57-d65h09asc5cndiecro40.png" id="294" name="Google Shape;294;p9"/>
          <p:cNvPicPr preferRelativeResize="0"/>
          <p:nvPr/>
        </p:nvPicPr>
        <p:blipFill rotWithShape="1">
          <a:blip r:embed="rId3">
            <a:alphaModFix/>
          </a:blip>
          <a:srcRect b="26" l="0" r="0" t="27"/>
          <a:stretch/>
        </p:blipFill>
        <p:spPr>
          <a:xfrm>
            <a:off x="563575" y="2028869"/>
            <a:ext cx="6931969" cy="375716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8024835" y="1469051"/>
            <a:ext cx="3783465" cy="3032032"/>
          </a:xfrm>
          <a:custGeom>
            <a:rect b="b" l="l" r="r" t="t"/>
            <a:pathLst>
              <a:path extrusionOk="0" h="3032032" w="3783465">
                <a:moveTo>
                  <a:pt x="75134" y="0"/>
                </a:moveTo>
                <a:lnTo>
                  <a:pt x="3708331" y="0"/>
                </a:lnTo>
                <a:cubicBezTo>
                  <a:pt x="3749826" y="0"/>
                  <a:pt x="3783465" y="33639"/>
                  <a:pt x="3783465" y="75134"/>
                </a:cubicBezTo>
                <a:lnTo>
                  <a:pt x="3783465" y="2956898"/>
                </a:lnTo>
                <a:cubicBezTo>
                  <a:pt x="3783465" y="2998394"/>
                  <a:pt x="3749826" y="3032032"/>
                  <a:pt x="3708331" y="3032032"/>
                </a:cubicBezTo>
                <a:lnTo>
                  <a:pt x="75134" y="3032032"/>
                </a:lnTo>
                <a:cubicBezTo>
                  <a:pt x="33639" y="3032032"/>
                  <a:pt x="0" y="2998394"/>
                  <a:pt x="0" y="2956898"/>
                </a:cubicBezTo>
                <a:lnTo>
                  <a:pt x="0" y="75134"/>
                </a:lnTo>
                <a:cubicBezTo>
                  <a:pt x="0" y="33639"/>
                  <a:pt x="33639" y="0"/>
                  <a:pt x="75134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8216450" y="1660670"/>
            <a:ext cx="3494163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9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Top Performers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8216450" y="2073958"/>
            <a:ext cx="3400234" cy="638718"/>
          </a:xfrm>
          <a:custGeom>
            <a:rect b="b" l="l" r="r" t="t"/>
            <a:pathLst>
              <a:path extrusionOk="0" h="638718" w="3400234">
                <a:moveTo>
                  <a:pt x="37569" y="0"/>
                </a:moveTo>
                <a:lnTo>
                  <a:pt x="3362665" y="0"/>
                </a:lnTo>
                <a:cubicBezTo>
                  <a:pt x="3383414" y="0"/>
                  <a:pt x="3400234" y="16820"/>
                  <a:pt x="3400234" y="37569"/>
                </a:cubicBezTo>
                <a:lnTo>
                  <a:pt x="3400234" y="601149"/>
                </a:lnTo>
                <a:cubicBezTo>
                  <a:pt x="3400234" y="621898"/>
                  <a:pt x="3383414" y="638718"/>
                  <a:pt x="3362665" y="638718"/>
                </a:cubicBezTo>
                <a:lnTo>
                  <a:pt x="37569" y="638718"/>
                </a:lnTo>
                <a:cubicBezTo>
                  <a:pt x="16834" y="638718"/>
                  <a:pt x="0" y="621884"/>
                  <a:pt x="0" y="601149"/>
                </a:cubicBezTo>
                <a:lnTo>
                  <a:pt x="0" y="37569"/>
                </a:lnTo>
                <a:cubicBezTo>
                  <a:pt x="0" y="16834"/>
                  <a:pt x="16834" y="0"/>
                  <a:pt x="37569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8329165" y="2205459"/>
            <a:ext cx="375716" cy="375716"/>
          </a:xfrm>
          <a:custGeom>
            <a:rect b="b" l="l" r="r" t="t"/>
            <a:pathLst>
              <a:path extrusionOk="0" h="375716" w="375716">
                <a:moveTo>
                  <a:pt x="187858" y="0"/>
                </a:moveTo>
                <a:lnTo>
                  <a:pt x="187858" y="0"/>
                </a:lnTo>
                <a:cubicBezTo>
                  <a:pt x="291540" y="0"/>
                  <a:pt x="375716" y="84176"/>
                  <a:pt x="375716" y="187858"/>
                </a:cubicBezTo>
                <a:lnTo>
                  <a:pt x="375716" y="187858"/>
                </a:lnTo>
                <a:cubicBezTo>
                  <a:pt x="375716" y="291540"/>
                  <a:pt x="291540" y="375716"/>
                  <a:pt x="187858" y="375716"/>
                </a:cubicBezTo>
                <a:lnTo>
                  <a:pt x="187858" y="375716"/>
                </a:lnTo>
                <a:cubicBezTo>
                  <a:pt x="84176" y="375716"/>
                  <a:pt x="0" y="291540"/>
                  <a:pt x="0" y="187858"/>
                </a:cubicBezTo>
                <a:lnTo>
                  <a:pt x="0" y="187858"/>
                </a:lnTo>
                <a:cubicBezTo>
                  <a:pt x="0" y="84176"/>
                  <a:pt x="84176" y="0"/>
                  <a:pt x="187858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8483209" y="2261816"/>
            <a:ext cx="150287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1">
                <a:solidFill>
                  <a:srgbClr val="1A1D24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8817596" y="2186673"/>
            <a:ext cx="2761516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Fabrikam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8817596" y="2412103"/>
            <a:ext cx="2752123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Market Leader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8216450" y="2825391"/>
            <a:ext cx="3400234" cy="638718"/>
          </a:xfrm>
          <a:custGeom>
            <a:rect b="b" l="l" r="r" t="t"/>
            <a:pathLst>
              <a:path extrusionOk="0" h="638718" w="3400234">
                <a:moveTo>
                  <a:pt x="37569" y="0"/>
                </a:moveTo>
                <a:lnTo>
                  <a:pt x="3362665" y="0"/>
                </a:lnTo>
                <a:cubicBezTo>
                  <a:pt x="3383414" y="0"/>
                  <a:pt x="3400234" y="16820"/>
                  <a:pt x="3400234" y="37569"/>
                </a:cubicBezTo>
                <a:lnTo>
                  <a:pt x="3400234" y="601149"/>
                </a:lnTo>
                <a:cubicBezTo>
                  <a:pt x="3400234" y="621898"/>
                  <a:pt x="3383414" y="638718"/>
                  <a:pt x="3362665" y="638718"/>
                </a:cubicBezTo>
                <a:lnTo>
                  <a:pt x="37569" y="638718"/>
                </a:lnTo>
                <a:cubicBezTo>
                  <a:pt x="16834" y="638718"/>
                  <a:pt x="0" y="621884"/>
                  <a:pt x="0" y="601149"/>
                </a:cubicBezTo>
                <a:lnTo>
                  <a:pt x="0" y="37569"/>
                </a:lnTo>
                <a:cubicBezTo>
                  <a:pt x="0" y="16834"/>
                  <a:pt x="16834" y="0"/>
                  <a:pt x="37569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8329165" y="2956892"/>
            <a:ext cx="375716" cy="375716"/>
          </a:xfrm>
          <a:custGeom>
            <a:rect b="b" l="l" r="r" t="t"/>
            <a:pathLst>
              <a:path extrusionOk="0" h="375716" w="375716">
                <a:moveTo>
                  <a:pt x="187858" y="0"/>
                </a:moveTo>
                <a:lnTo>
                  <a:pt x="187858" y="0"/>
                </a:lnTo>
                <a:cubicBezTo>
                  <a:pt x="291540" y="0"/>
                  <a:pt x="375716" y="84176"/>
                  <a:pt x="375716" y="187858"/>
                </a:cubicBezTo>
                <a:lnTo>
                  <a:pt x="375716" y="187858"/>
                </a:lnTo>
                <a:cubicBezTo>
                  <a:pt x="375716" y="291540"/>
                  <a:pt x="291540" y="375716"/>
                  <a:pt x="187858" y="375716"/>
                </a:cubicBezTo>
                <a:lnTo>
                  <a:pt x="187858" y="375716"/>
                </a:lnTo>
                <a:cubicBezTo>
                  <a:pt x="84176" y="375716"/>
                  <a:pt x="0" y="291540"/>
                  <a:pt x="0" y="187858"/>
                </a:cubicBezTo>
                <a:lnTo>
                  <a:pt x="0" y="187858"/>
                </a:lnTo>
                <a:cubicBezTo>
                  <a:pt x="0" y="84176"/>
                  <a:pt x="84176" y="0"/>
                  <a:pt x="187858" y="0"/>
                </a:cubicBezTo>
                <a:close/>
              </a:path>
            </a:pathLst>
          </a:custGeom>
          <a:solidFill>
            <a:srgbClr val="00D4AA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8467828" y="3013249"/>
            <a:ext cx="178465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1">
                <a:solidFill>
                  <a:srgbClr val="1A1D24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8817596" y="2938106"/>
            <a:ext cx="2761516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Contoso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817596" y="3163536"/>
            <a:ext cx="2752123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Challenger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8216450" y="3576824"/>
            <a:ext cx="3400234" cy="638718"/>
          </a:xfrm>
          <a:custGeom>
            <a:rect b="b" l="l" r="r" t="t"/>
            <a:pathLst>
              <a:path extrusionOk="0" h="638718" w="3400234">
                <a:moveTo>
                  <a:pt x="37569" y="0"/>
                </a:moveTo>
                <a:lnTo>
                  <a:pt x="3362665" y="0"/>
                </a:lnTo>
                <a:cubicBezTo>
                  <a:pt x="3383414" y="0"/>
                  <a:pt x="3400234" y="16820"/>
                  <a:pt x="3400234" y="37569"/>
                </a:cubicBezTo>
                <a:lnTo>
                  <a:pt x="3400234" y="601149"/>
                </a:lnTo>
                <a:cubicBezTo>
                  <a:pt x="3400234" y="621898"/>
                  <a:pt x="3383414" y="638718"/>
                  <a:pt x="3362665" y="638718"/>
                </a:cubicBezTo>
                <a:lnTo>
                  <a:pt x="37569" y="638718"/>
                </a:lnTo>
                <a:cubicBezTo>
                  <a:pt x="16834" y="638718"/>
                  <a:pt x="0" y="621884"/>
                  <a:pt x="0" y="601149"/>
                </a:cubicBezTo>
                <a:lnTo>
                  <a:pt x="0" y="37569"/>
                </a:lnTo>
                <a:cubicBezTo>
                  <a:pt x="0" y="16834"/>
                  <a:pt x="16834" y="0"/>
                  <a:pt x="37569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8329165" y="3708324"/>
            <a:ext cx="375716" cy="375716"/>
          </a:xfrm>
          <a:custGeom>
            <a:rect b="b" l="l" r="r" t="t"/>
            <a:pathLst>
              <a:path extrusionOk="0" h="375716" w="375716">
                <a:moveTo>
                  <a:pt x="187858" y="0"/>
                </a:moveTo>
                <a:lnTo>
                  <a:pt x="187858" y="0"/>
                </a:lnTo>
                <a:cubicBezTo>
                  <a:pt x="291540" y="0"/>
                  <a:pt x="375716" y="84176"/>
                  <a:pt x="375716" y="187858"/>
                </a:cubicBezTo>
                <a:lnTo>
                  <a:pt x="375716" y="187858"/>
                </a:lnTo>
                <a:cubicBezTo>
                  <a:pt x="375716" y="291540"/>
                  <a:pt x="291540" y="375716"/>
                  <a:pt x="187858" y="375716"/>
                </a:cubicBezTo>
                <a:lnTo>
                  <a:pt x="187858" y="375716"/>
                </a:lnTo>
                <a:cubicBezTo>
                  <a:pt x="84176" y="375716"/>
                  <a:pt x="0" y="291540"/>
                  <a:pt x="0" y="187858"/>
                </a:cubicBezTo>
                <a:lnTo>
                  <a:pt x="0" y="187858"/>
                </a:lnTo>
                <a:cubicBezTo>
                  <a:pt x="0" y="84176"/>
                  <a:pt x="84176" y="0"/>
                  <a:pt x="187858" y="0"/>
                </a:cubicBezTo>
                <a:close/>
              </a:path>
            </a:pathLst>
          </a:custGeom>
          <a:solidFill>
            <a:srgbClr val="00D4AA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8467123" y="3764682"/>
            <a:ext cx="187858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1">
                <a:solidFill>
                  <a:srgbClr val="1A1D24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8817596" y="3689539"/>
            <a:ext cx="2761516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3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Adventure Works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817596" y="3914969"/>
            <a:ext cx="2752123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Consistent Growth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8021077" y="4658884"/>
            <a:ext cx="3794737" cy="1315008"/>
          </a:xfrm>
          <a:custGeom>
            <a:rect b="b" l="l" r="r" t="t"/>
            <a:pathLst>
              <a:path extrusionOk="0" h="1315008" w="3794737">
                <a:moveTo>
                  <a:pt x="75140" y="0"/>
                </a:moveTo>
                <a:lnTo>
                  <a:pt x="3719597" y="0"/>
                </a:lnTo>
                <a:cubicBezTo>
                  <a:pt x="3761095" y="0"/>
                  <a:pt x="3794737" y="33641"/>
                  <a:pt x="3794737" y="75140"/>
                </a:cubicBezTo>
                <a:lnTo>
                  <a:pt x="3794737" y="1239868"/>
                </a:lnTo>
                <a:cubicBezTo>
                  <a:pt x="3794737" y="1281367"/>
                  <a:pt x="3761095" y="1315008"/>
                  <a:pt x="3719597" y="1315008"/>
                </a:cubicBezTo>
                <a:lnTo>
                  <a:pt x="75140" y="1315008"/>
                </a:lnTo>
                <a:cubicBezTo>
                  <a:pt x="33641" y="1315008"/>
                  <a:pt x="0" y="1281367"/>
                  <a:pt x="0" y="1239868"/>
                </a:cubicBezTo>
                <a:lnTo>
                  <a:pt x="0" y="75140"/>
                </a:lnTo>
                <a:cubicBezTo>
                  <a:pt x="0" y="33669"/>
                  <a:pt x="33669" y="0"/>
                  <a:pt x="75140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8171364" y="4809171"/>
            <a:ext cx="3578700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1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Brand Portfolio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8171364" y="5147316"/>
            <a:ext cx="3559914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1035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3 brands</a:t>
            </a: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drive majority of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171364" y="5391532"/>
            <a:ext cx="3559914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1035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 tail</a:t>
            </a: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smaller brands shows diversification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171364" y="5635747"/>
            <a:ext cx="3559914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1035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Opportunity</a:t>
            </a:r>
            <a:r>
              <a:rPr lang="en-US" sz="10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optimize underperforming brands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79474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67767" y="6244411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Brands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39588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12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689661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2777954" y="6244411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3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2749775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68%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999847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088141" y="6244411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Leader Margin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059962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~$1bn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7310151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cap="flat" cmpd="sng" w="10150">
            <a:solidFill>
              <a:srgbClr val="FF6B6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398445" y="6244411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Bottom 5 Share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370266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FF6B6B"/>
                </a:solidFill>
                <a:latin typeface="Liter"/>
                <a:ea typeface="Liter"/>
                <a:cs typeface="Liter"/>
                <a:sym typeface="Liter"/>
              </a:rPr>
              <a:t>12%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9620338" y="6127936"/>
            <a:ext cx="2186670" cy="604787"/>
          </a:xfrm>
          <a:custGeom>
            <a:rect b="b" l="l" r="r" t="t"/>
            <a:pathLst>
              <a:path extrusionOk="0" h="721376" w="2186670">
                <a:moveTo>
                  <a:pt x="75146" y="0"/>
                </a:moveTo>
                <a:lnTo>
                  <a:pt x="2111524" y="0"/>
                </a:lnTo>
                <a:cubicBezTo>
                  <a:pt x="2153026" y="0"/>
                  <a:pt x="2186670" y="33644"/>
                  <a:pt x="2186670" y="75146"/>
                </a:cubicBezTo>
                <a:lnTo>
                  <a:pt x="2186670" y="646230"/>
                </a:lnTo>
                <a:cubicBezTo>
                  <a:pt x="2186670" y="687732"/>
                  <a:pt x="2153026" y="721376"/>
                  <a:pt x="2111524" y="721376"/>
                </a:cubicBezTo>
                <a:lnTo>
                  <a:pt x="75146" y="721376"/>
                </a:lnTo>
                <a:cubicBezTo>
                  <a:pt x="33672" y="721376"/>
                  <a:pt x="0" y="687704"/>
                  <a:pt x="0" y="646230"/>
                </a:cubicBezTo>
                <a:lnTo>
                  <a:pt x="0" y="75146"/>
                </a:lnTo>
                <a:cubicBezTo>
                  <a:pt x="0" y="33672"/>
                  <a:pt x="33672" y="0"/>
                  <a:pt x="7514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9708632" y="6244411"/>
            <a:ext cx="2010083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8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per Brand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9680453" y="6432150"/>
            <a:ext cx="206644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$0.7bn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/>
          <p:nvPr/>
        </p:nvSpPr>
        <p:spPr>
          <a:xfrm>
            <a:off x="377754" y="377754"/>
            <a:ext cx="11512043" cy="22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77754" y="679957"/>
            <a:ext cx="11663145" cy="453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68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Profitability &amp; Operational Metrics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77754" y="1246587"/>
            <a:ext cx="906609" cy="37775"/>
          </a:xfrm>
          <a:custGeom>
            <a:rect b="b" l="l" r="r" t="t"/>
            <a:pathLst>
              <a:path extrusionOk="0" h="37775" w="906609">
                <a:moveTo>
                  <a:pt x="0" y="0"/>
                </a:moveTo>
                <a:lnTo>
                  <a:pt x="906609" y="0"/>
                </a:lnTo>
                <a:lnTo>
                  <a:pt x="906609" y="37775"/>
                </a:lnTo>
                <a:lnTo>
                  <a:pt x="0" y="37775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381531" y="1477017"/>
            <a:ext cx="5598310" cy="3709541"/>
          </a:xfrm>
          <a:custGeom>
            <a:rect b="b" l="l" r="r" t="t"/>
            <a:pathLst>
              <a:path extrusionOk="0" h="3709541" w="5598310">
                <a:moveTo>
                  <a:pt x="75563" y="0"/>
                </a:moveTo>
                <a:lnTo>
                  <a:pt x="5522746" y="0"/>
                </a:lnTo>
                <a:cubicBezTo>
                  <a:pt x="5564479" y="0"/>
                  <a:pt x="5598310" y="33831"/>
                  <a:pt x="5598310" y="75563"/>
                </a:cubicBezTo>
                <a:lnTo>
                  <a:pt x="5598310" y="3633978"/>
                </a:lnTo>
                <a:cubicBezTo>
                  <a:pt x="5598310" y="3675710"/>
                  <a:pt x="5564479" y="3709541"/>
                  <a:pt x="5522746" y="3709541"/>
                </a:cubicBezTo>
                <a:lnTo>
                  <a:pt x="75563" y="3709541"/>
                </a:lnTo>
                <a:cubicBezTo>
                  <a:pt x="33831" y="3709541"/>
                  <a:pt x="0" y="3675710"/>
                  <a:pt x="0" y="3633978"/>
                </a:cubicBezTo>
                <a:lnTo>
                  <a:pt x="0" y="75563"/>
                </a:lnTo>
                <a:cubicBezTo>
                  <a:pt x="0" y="33859"/>
                  <a:pt x="33859" y="0"/>
                  <a:pt x="75563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11961" y="1707449"/>
            <a:ext cx="5250776" cy="30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5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Financial Health Dashboard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11961" y="2255072"/>
            <a:ext cx="906609" cy="22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Profit Margin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5213827" y="2198409"/>
            <a:ext cx="670513" cy="339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1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57%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11961" y="2613938"/>
            <a:ext cx="5137450" cy="113326"/>
          </a:xfrm>
          <a:custGeom>
            <a:rect b="b" l="l" r="r" t="t"/>
            <a:pathLst>
              <a:path extrusionOk="0" h="113326" w="5137450">
                <a:moveTo>
                  <a:pt x="56663" y="0"/>
                </a:moveTo>
                <a:lnTo>
                  <a:pt x="5080787" y="0"/>
                </a:lnTo>
                <a:cubicBezTo>
                  <a:pt x="5112081" y="0"/>
                  <a:pt x="5137450" y="25369"/>
                  <a:pt x="5137450" y="56663"/>
                </a:cubicBezTo>
                <a:lnTo>
                  <a:pt x="5137450" y="56663"/>
                </a:lnTo>
                <a:cubicBezTo>
                  <a:pt x="5137450" y="87957"/>
                  <a:pt x="5112081" y="113326"/>
                  <a:pt x="5080787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1A1D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11961" y="2613938"/>
            <a:ext cx="2927591" cy="113326"/>
          </a:xfrm>
          <a:custGeom>
            <a:rect b="b" l="l" r="r" t="t"/>
            <a:pathLst>
              <a:path extrusionOk="0" h="113326" w="2927591">
                <a:moveTo>
                  <a:pt x="56663" y="0"/>
                </a:moveTo>
                <a:lnTo>
                  <a:pt x="2870928" y="0"/>
                </a:lnTo>
                <a:cubicBezTo>
                  <a:pt x="2902222" y="0"/>
                  <a:pt x="2927591" y="25369"/>
                  <a:pt x="2927591" y="56663"/>
                </a:cubicBezTo>
                <a:lnTo>
                  <a:pt x="2927591" y="56663"/>
                </a:lnTo>
                <a:cubicBezTo>
                  <a:pt x="2927591" y="87957"/>
                  <a:pt x="2902222" y="113326"/>
                  <a:pt x="2870928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gradFill>
            <a:gsLst>
              <a:gs pos="0">
                <a:srgbClr val="00D4AA"/>
              </a:gs>
              <a:gs pos="100000">
                <a:srgbClr val="00D4AA">
                  <a:alpha val="7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611961" y="2802815"/>
            <a:ext cx="5203557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Industry benchmark: 35-45%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611961" y="3237232"/>
            <a:ext cx="840502" cy="22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Return Rate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939601" y="3180569"/>
            <a:ext cx="944384" cy="339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1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0.36%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11961" y="3596098"/>
            <a:ext cx="5137450" cy="113326"/>
          </a:xfrm>
          <a:custGeom>
            <a:rect b="b" l="l" r="r" t="t"/>
            <a:pathLst>
              <a:path extrusionOk="0" h="113326" w="5137450">
                <a:moveTo>
                  <a:pt x="56663" y="0"/>
                </a:moveTo>
                <a:lnTo>
                  <a:pt x="5080787" y="0"/>
                </a:lnTo>
                <a:cubicBezTo>
                  <a:pt x="5112081" y="0"/>
                  <a:pt x="5137450" y="25369"/>
                  <a:pt x="5137450" y="56663"/>
                </a:cubicBezTo>
                <a:lnTo>
                  <a:pt x="5137450" y="56663"/>
                </a:lnTo>
                <a:cubicBezTo>
                  <a:pt x="5137450" y="87957"/>
                  <a:pt x="5112081" y="113326"/>
                  <a:pt x="5080787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1A1D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11961" y="3596098"/>
            <a:ext cx="188877" cy="113326"/>
          </a:xfrm>
          <a:custGeom>
            <a:rect b="b" l="l" r="r" t="t"/>
            <a:pathLst>
              <a:path extrusionOk="0" h="113326" w="188877">
                <a:moveTo>
                  <a:pt x="56663" y="0"/>
                </a:moveTo>
                <a:lnTo>
                  <a:pt x="132214" y="0"/>
                </a:lnTo>
                <a:cubicBezTo>
                  <a:pt x="163508" y="0"/>
                  <a:pt x="188877" y="25369"/>
                  <a:pt x="188877" y="56663"/>
                </a:cubicBezTo>
                <a:lnTo>
                  <a:pt x="188877" y="56663"/>
                </a:lnTo>
                <a:cubicBezTo>
                  <a:pt x="188877" y="87957"/>
                  <a:pt x="163508" y="113326"/>
                  <a:pt x="132214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gradFill>
            <a:gsLst>
              <a:gs pos="0">
                <a:srgbClr val="00D4AA"/>
              </a:gs>
              <a:gs pos="100000">
                <a:srgbClr val="00D4AA">
                  <a:alpha val="7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11961" y="3784975"/>
            <a:ext cx="5203557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Industry average: 8-12%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11961" y="4219391"/>
            <a:ext cx="982160" cy="22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Discount Rate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932283" y="4162728"/>
            <a:ext cx="953828" cy="339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1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0.50%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11961" y="4578257"/>
            <a:ext cx="5137450" cy="113326"/>
          </a:xfrm>
          <a:custGeom>
            <a:rect b="b" l="l" r="r" t="t"/>
            <a:pathLst>
              <a:path extrusionOk="0" h="113326" w="5137450">
                <a:moveTo>
                  <a:pt x="56663" y="0"/>
                </a:moveTo>
                <a:lnTo>
                  <a:pt x="5080787" y="0"/>
                </a:lnTo>
                <a:cubicBezTo>
                  <a:pt x="5112081" y="0"/>
                  <a:pt x="5137450" y="25369"/>
                  <a:pt x="5137450" y="56663"/>
                </a:cubicBezTo>
                <a:lnTo>
                  <a:pt x="5137450" y="56663"/>
                </a:lnTo>
                <a:cubicBezTo>
                  <a:pt x="5137450" y="87957"/>
                  <a:pt x="5112081" y="113326"/>
                  <a:pt x="5080787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1A1D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11961" y="4578257"/>
            <a:ext cx="254984" cy="113326"/>
          </a:xfrm>
          <a:custGeom>
            <a:rect b="b" l="l" r="r" t="t"/>
            <a:pathLst>
              <a:path extrusionOk="0" h="113326" w="254984">
                <a:moveTo>
                  <a:pt x="56663" y="0"/>
                </a:moveTo>
                <a:lnTo>
                  <a:pt x="198321" y="0"/>
                </a:lnTo>
                <a:cubicBezTo>
                  <a:pt x="229594" y="0"/>
                  <a:pt x="254984" y="25390"/>
                  <a:pt x="254984" y="56663"/>
                </a:cubicBezTo>
                <a:lnTo>
                  <a:pt x="254984" y="56663"/>
                </a:lnTo>
                <a:cubicBezTo>
                  <a:pt x="254984" y="87936"/>
                  <a:pt x="229594" y="113326"/>
                  <a:pt x="198321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gradFill>
            <a:gsLst>
              <a:gs pos="0">
                <a:srgbClr val="00D4AA"/>
              </a:gs>
              <a:gs pos="100000">
                <a:srgbClr val="00D4AA">
                  <a:alpha val="7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611961" y="4767134"/>
            <a:ext cx="5203557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Industry average: 15-25%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77754" y="5341319"/>
            <a:ext cx="5600198" cy="1409106"/>
          </a:xfrm>
          <a:custGeom>
            <a:rect b="b" l="l" r="r" t="t"/>
            <a:pathLst>
              <a:path extrusionOk="0" h="1511015" w="5600198">
                <a:moveTo>
                  <a:pt x="75551" y="0"/>
                </a:moveTo>
                <a:lnTo>
                  <a:pt x="5524648" y="0"/>
                </a:lnTo>
                <a:cubicBezTo>
                  <a:pt x="5566373" y="0"/>
                  <a:pt x="5600198" y="33825"/>
                  <a:pt x="5600198" y="75551"/>
                </a:cubicBezTo>
                <a:lnTo>
                  <a:pt x="5600198" y="1435464"/>
                </a:lnTo>
                <a:cubicBezTo>
                  <a:pt x="5600198" y="1477190"/>
                  <a:pt x="5566373" y="1511015"/>
                  <a:pt x="5524648" y="1511015"/>
                </a:cubicBezTo>
                <a:lnTo>
                  <a:pt x="75551" y="1511015"/>
                </a:lnTo>
                <a:cubicBezTo>
                  <a:pt x="33853" y="1511015"/>
                  <a:pt x="0" y="1477162"/>
                  <a:pt x="0" y="1435464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66631" y="5530195"/>
            <a:ext cx="5307439" cy="26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9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Operational Excellence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66631" y="5907949"/>
            <a:ext cx="2559281" cy="755507"/>
          </a:xfrm>
          <a:custGeom>
            <a:rect b="b" l="l" r="r" t="t"/>
            <a:pathLst>
              <a:path extrusionOk="0" h="755507" w="2559281">
                <a:moveTo>
                  <a:pt x="37775" y="0"/>
                </a:moveTo>
                <a:lnTo>
                  <a:pt x="2521506" y="0"/>
                </a:lnTo>
                <a:cubicBezTo>
                  <a:pt x="2542369" y="0"/>
                  <a:pt x="2559281" y="16913"/>
                  <a:pt x="2559281" y="37775"/>
                </a:cubicBezTo>
                <a:lnTo>
                  <a:pt x="2559281" y="717732"/>
                </a:lnTo>
                <a:cubicBezTo>
                  <a:pt x="2559281" y="738595"/>
                  <a:pt x="2542369" y="755507"/>
                  <a:pt x="2521506" y="755507"/>
                </a:cubicBezTo>
                <a:lnTo>
                  <a:pt x="37775" y="755507"/>
                </a:lnTo>
                <a:cubicBezTo>
                  <a:pt x="16927" y="755507"/>
                  <a:pt x="0" y="738581"/>
                  <a:pt x="0" y="71773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09128" y="6021275"/>
            <a:ext cx="2474287" cy="339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1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628K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646903" y="6361253"/>
            <a:ext cx="2398736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Orders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236051" y="5907949"/>
            <a:ext cx="2559281" cy="755507"/>
          </a:xfrm>
          <a:custGeom>
            <a:rect b="b" l="l" r="r" t="t"/>
            <a:pathLst>
              <a:path extrusionOk="0" h="755507" w="2559281">
                <a:moveTo>
                  <a:pt x="37775" y="0"/>
                </a:moveTo>
                <a:lnTo>
                  <a:pt x="2521506" y="0"/>
                </a:lnTo>
                <a:cubicBezTo>
                  <a:pt x="2542369" y="0"/>
                  <a:pt x="2559281" y="16913"/>
                  <a:pt x="2559281" y="37775"/>
                </a:cubicBezTo>
                <a:lnTo>
                  <a:pt x="2559281" y="717732"/>
                </a:lnTo>
                <a:cubicBezTo>
                  <a:pt x="2559281" y="738595"/>
                  <a:pt x="2542369" y="755507"/>
                  <a:pt x="2521506" y="755507"/>
                </a:cubicBezTo>
                <a:lnTo>
                  <a:pt x="37775" y="755507"/>
                </a:lnTo>
                <a:cubicBezTo>
                  <a:pt x="16927" y="755507"/>
                  <a:pt x="0" y="738581"/>
                  <a:pt x="0" y="71773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278548" y="6021275"/>
            <a:ext cx="2474287" cy="339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1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$12.7K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3316323" y="6361253"/>
            <a:ext cx="2398736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Order Value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207674" y="1473239"/>
            <a:ext cx="5600198" cy="3475334"/>
          </a:xfrm>
          <a:custGeom>
            <a:rect b="b" l="l" r="r" t="t"/>
            <a:pathLst>
              <a:path extrusionOk="0" h="3475334" w="5600198">
                <a:moveTo>
                  <a:pt x="75554" y="0"/>
                </a:moveTo>
                <a:lnTo>
                  <a:pt x="5524645" y="0"/>
                </a:lnTo>
                <a:cubicBezTo>
                  <a:pt x="5566372" y="0"/>
                  <a:pt x="5600198" y="33827"/>
                  <a:pt x="5600198" y="75554"/>
                </a:cubicBezTo>
                <a:lnTo>
                  <a:pt x="5600198" y="3399780"/>
                </a:lnTo>
                <a:cubicBezTo>
                  <a:pt x="5600198" y="3441507"/>
                  <a:pt x="5566372" y="3475334"/>
                  <a:pt x="5524645" y="3475334"/>
                </a:cubicBezTo>
                <a:lnTo>
                  <a:pt x="75554" y="3475334"/>
                </a:lnTo>
                <a:cubicBezTo>
                  <a:pt x="33827" y="3475334"/>
                  <a:pt x="0" y="3441507"/>
                  <a:pt x="0" y="3399780"/>
                </a:cubicBezTo>
                <a:lnTo>
                  <a:pt x="0" y="75554"/>
                </a:lnTo>
                <a:cubicBezTo>
                  <a:pt x="0" y="33855"/>
                  <a:pt x="33855" y="0"/>
                  <a:pt x="75554" y="0"/>
                </a:cubicBezTo>
                <a:close/>
              </a:path>
            </a:pathLst>
          </a:custGeom>
          <a:solidFill>
            <a:srgbClr val="2D3E5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396550" y="1662116"/>
            <a:ext cx="5316883" cy="26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7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Revenue to Profit Flow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kimi-img.moonshot.cn/pub/slides/26-02-10-19:01:57-d65h09ehek0nhuhl2l0g.png" id="367" name="Google Shape;3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6550" y="2039870"/>
            <a:ext cx="5175225" cy="26442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68" name="Google Shape;368;p10"/>
          <p:cNvSpPr/>
          <p:nvPr/>
        </p:nvSpPr>
        <p:spPr>
          <a:xfrm>
            <a:off x="6211451" y="5103337"/>
            <a:ext cx="5598310" cy="1647087"/>
          </a:xfrm>
          <a:custGeom>
            <a:rect b="b" l="l" r="r" t="t"/>
            <a:pathLst>
              <a:path extrusionOk="0" h="1745222" w="5598310">
                <a:moveTo>
                  <a:pt x="75551" y="0"/>
                </a:moveTo>
                <a:lnTo>
                  <a:pt x="5522759" y="0"/>
                </a:lnTo>
                <a:cubicBezTo>
                  <a:pt x="5564484" y="0"/>
                  <a:pt x="5598310" y="33825"/>
                  <a:pt x="5598310" y="75551"/>
                </a:cubicBezTo>
                <a:lnTo>
                  <a:pt x="5598310" y="1669671"/>
                </a:lnTo>
                <a:cubicBezTo>
                  <a:pt x="5598310" y="1711397"/>
                  <a:pt x="5564484" y="1745222"/>
                  <a:pt x="5522759" y="1745222"/>
                </a:cubicBezTo>
                <a:lnTo>
                  <a:pt x="75551" y="1745222"/>
                </a:lnTo>
                <a:cubicBezTo>
                  <a:pt x="33825" y="1745222"/>
                  <a:pt x="0" y="1711397"/>
                  <a:pt x="0" y="1669671"/>
                </a:cubicBezTo>
                <a:lnTo>
                  <a:pt x="0" y="75551"/>
                </a:lnTo>
                <a:cubicBezTo>
                  <a:pt x="0" y="33853"/>
                  <a:pt x="33853" y="0"/>
                  <a:pt x="75551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404105" y="5295989"/>
            <a:ext cx="5297995" cy="26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9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Key Performance Highlights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6422993" y="5692631"/>
            <a:ext cx="132214" cy="132214"/>
          </a:xfrm>
          <a:custGeom>
            <a:rect b="b" l="l" r="r" t="t"/>
            <a:pathLst>
              <a:path extrusionOk="0" h="132214" w="132214">
                <a:moveTo>
                  <a:pt x="66107" y="132214"/>
                </a:moveTo>
                <a:cubicBezTo>
                  <a:pt x="102592" y="132214"/>
                  <a:pt x="132214" y="102592"/>
                  <a:pt x="132214" y="66107"/>
                </a:cubicBezTo>
                <a:cubicBezTo>
                  <a:pt x="132214" y="29622"/>
                  <a:pt x="102592" y="0"/>
                  <a:pt x="66107" y="0"/>
                </a:cubicBezTo>
                <a:cubicBezTo>
                  <a:pt x="29622" y="0"/>
                  <a:pt x="0" y="29622"/>
                  <a:pt x="0" y="66107"/>
                </a:cubicBezTo>
                <a:cubicBezTo>
                  <a:pt x="0" y="102592"/>
                  <a:pt x="29622" y="132214"/>
                  <a:pt x="66107" y="132214"/>
                </a:cubicBezTo>
                <a:close/>
                <a:moveTo>
                  <a:pt x="87902" y="54926"/>
                </a:moveTo>
                <a:lnTo>
                  <a:pt x="67243" y="87979"/>
                </a:lnTo>
                <a:cubicBezTo>
                  <a:pt x="66159" y="89709"/>
                  <a:pt x="64299" y="90794"/>
                  <a:pt x="62259" y="90897"/>
                </a:cubicBezTo>
                <a:cubicBezTo>
                  <a:pt x="60219" y="91000"/>
                  <a:pt x="58257" y="90071"/>
                  <a:pt x="57043" y="88418"/>
                </a:cubicBezTo>
                <a:lnTo>
                  <a:pt x="44648" y="71891"/>
                </a:lnTo>
                <a:cubicBezTo>
                  <a:pt x="42582" y="69154"/>
                  <a:pt x="43150" y="65281"/>
                  <a:pt x="45887" y="63215"/>
                </a:cubicBezTo>
                <a:cubicBezTo>
                  <a:pt x="48625" y="61149"/>
                  <a:pt x="52498" y="61717"/>
                  <a:pt x="54564" y="64454"/>
                </a:cubicBezTo>
                <a:lnTo>
                  <a:pt x="61536" y="73751"/>
                </a:lnTo>
                <a:lnTo>
                  <a:pt x="77392" y="48366"/>
                </a:lnTo>
                <a:cubicBezTo>
                  <a:pt x="79199" y="45474"/>
                  <a:pt x="83021" y="44571"/>
                  <a:pt x="85939" y="46404"/>
                </a:cubicBezTo>
                <a:cubicBezTo>
                  <a:pt x="88857" y="48237"/>
                  <a:pt x="89735" y="52033"/>
                  <a:pt x="87902" y="54951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644923" y="5673743"/>
            <a:ext cx="4438606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1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Exceptional Profitability:</a:t>
            </a: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57% margin significantly exceeds industry standards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422993" y="5957058"/>
            <a:ext cx="132214" cy="132214"/>
          </a:xfrm>
          <a:custGeom>
            <a:rect b="b" l="l" r="r" t="t"/>
            <a:pathLst>
              <a:path extrusionOk="0" h="132214" w="132214">
                <a:moveTo>
                  <a:pt x="66107" y="132214"/>
                </a:moveTo>
                <a:cubicBezTo>
                  <a:pt x="102592" y="132214"/>
                  <a:pt x="132214" y="102592"/>
                  <a:pt x="132214" y="66107"/>
                </a:cubicBezTo>
                <a:cubicBezTo>
                  <a:pt x="132214" y="29622"/>
                  <a:pt x="102592" y="0"/>
                  <a:pt x="66107" y="0"/>
                </a:cubicBezTo>
                <a:cubicBezTo>
                  <a:pt x="29622" y="0"/>
                  <a:pt x="0" y="29622"/>
                  <a:pt x="0" y="66107"/>
                </a:cubicBezTo>
                <a:cubicBezTo>
                  <a:pt x="0" y="102592"/>
                  <a:pt x="29622" y="132214"/>
                  <a:pt x="66107" y="132214"/>
                </a:cubicBezTo>
                <a:close/>
                <a:moveTo>
                  <a:pt x="87902" y="54926"/>
                </a:moveTo>
                <a:lnTo>
                  <a:pt x="67243" y="87979"/>
                </a:lnTo>
                <a:cubicBezTo>
                  <a:pt x="66159" y="89709"/>
                  <a:pt x="64299" y="90794"/>
                  <a:pt x="62259" y="90897"/>
                </a:cubicBezTo>
                <a:cubicBezTo>
                  <a:pt x="60219" y="91000"/>
                  <a:pt x="58257" y="90071"/>
                  <a:pt x="57043" y="88418"/>
                </a:cubicBezTo>
                <a:lnTo>
                  <a:pt x="44648" y="71891"/>
                </a:lnTo>
                <a:cubicBezTo>
                  <a:pt x="42582" y="69154"/>
                  <a:pt x="43150" y="65281"/>
                  <a:pt x="45887" y="63215"/>
                </a:cubicBezTo>
                <a:cubicBezTo>
                  <a:pt x="48625" y="61149"/>
                  <a:pt x="52498" y="61717"/>
                  <a:pt x="54564" y="64454"/>
                </a:cubicBezTo>
                <a:lnTo>
                  <a:pt x="61536" y="73751"/>
                </a:lnTo>
                <a:lnTo>
                  <a:pt x="77392" y="48366"/>
                </a:lnTo>
                <a:cubicBezTo>
                  <a:pt x="79199" y="45474"/>
                  <a:pt x="83021" y="44571"/>
                  <a:pt x="85939" y="46404"/>
                </a:cubicBezTo>
                <a:cubicBezTo>
                  <a:pt x="88857" y="48237"/>
                  <a:pt x="89735" y="52033"/>
                  <a:pt x="87902" y="54951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644923" y="5938171"/>
            <a:ext cx="4655814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1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Return Rate:</a:t>
            </a: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0.36% indicates high product quality and customer satisfaction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6422993" y="6221486"/>
            <a:ext cx="132214" cy="132214"/>
          </a:xfrm>
          <a:custGeom>
            <a:rect b="b" l="l" r="r" t="t"/>
            <a:pathLst>
              <a:path extrusionOk="0" h="132214" w="132214">
                <a:moveTo>
                  <a:pt x="66107" y="132214"/>
                </a:moveTo>
                <a:cubicBezTo>
                  <a:pt x="102592" y="132214"/>
                  <a:pt x="132214" y="102592"/>
                  <a:pt x="132214" y="66107"/>
                </a:cubicBezTo>
                <a:cubicBezTo>
                  <a:pt x="132214" y="29622"/>
                  <a:pt x="102592" y="0"/>
                  <a:pt x="66107" y="0"/>
                </a:cubicBezTo>
                <a:cubicBezTo>
                  <a:pt x="29622" y="0"/>
                  <a:pt x="0" y="29622"/>
                  <a:pt x="0" y="66107"/>
                </a:cubicBezTo>
                <a:cubicBezTo>
                  <a:pt x="0" y="102592"/>
                  <a:pt x="29622" y="132214"/>
                  <a:pt x="66107" y="132214"/>
                </a:cubicBezTo>
                <a:close/>
                <a:moveTo>
                  <a:pt x="87902" y="54926"/>
                </a:moveTo>
                <a:lnTo>
                  <a:pt x="67243" y="87979"/>
                </a:lnTo>
                <a:cubicBezTo>
                  <a:pt x="66159" y="89709"/>
                  <a:pt x="64299" y="90794"/>
                  <a:pt x="62259" y="90897"/>
                </a:cubicBezTo>
                <a:cubicBezTo>
                  <a:pt x="60219" y="91000"/>
                  <a:pt x="58257" y="90071"/>
                  <a:pt x="57043" y="88418"/>
                </a:cubicBezTo>
                <a:lnTo>
                  <a:pt x="44648" y="71891"/>
                </a:lnTo>
                <a:cubicBezTo>
                  <a:pt x="42582" y="69154"/>
                  <a:pt x="43150" y="65281"/>
                  <a:pt x="45887" y="63215"/>
                </a:cubicBezTo>
                <a:cubicBezTo>
                  <a:pt x="48625" y="61149"/>
                  <a:pt x="52498" y="61717"/>
                  <a:pt x="54564" y="64454"/>
                </a:cubicBezTo>
                <a:lnTo>
                  <a:pt x="61536" y="73751"/>
                </a:lnTo>
                <a:lnTo>
                  <a:pt x="77392" y="48366"/>
                </a:lnTo>
                <a:cubicBezTo>
                  <a:pt x="79199" y="45474"/>
                  <a:pt x="83021" y="44571"/>
                  <a:pt x="85939" y="46404"/>
                </a:cubicBezTo>
                <a:cubicBezTo>
                  <a:pt x="88857" y="48237"/>
                  <a:pt x="89735" y="52033"/>
                  <a:pt x="87902" y="54951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644923" y="6202598"/>
            <a:ext cx="4249729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1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Minimal Discounting:</a:t>
            </a: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0.50% shows strong pricing power and brand value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422993" y="6485914"/>
            <a:ext cx="132214" cy="132214"/>
          </a:xfrm>
          <a:custGeom>
            <a:rect b="b" l="l" r="r" t="t"/>
            <a:pathLst>
              <a:path extrusionOk="0" h="132214" w="132214">
                <a:moveTo>
                  <a:pt x="66107" y="132214"/>
                </a:moveTo>
                <a:cubicBezTo>
                  <a:pt x="102592" y="132214"/>
                  <a:pt x="132214" y="102592"/>
                  <a:pt x="132214" y="66107"/>
                </a:cubicBezTo>
                <a:cubicBezTo>
                  <a:pt x="132214" y="29622"/>
                  <a:pt x="102592" y="0"/>
                  <a:pt x="66107" y="0"/>
                </a:cubicBezTo>
                <a:cubicBezTo>
                  <a:pt x="29622" y="0"/>
                  <a:pt x="0" y="29622"/>
                  <a:pt x="0" y="66107"/>
                </a:cubicBezTo>
                <a:cubicBezTo>
                  <a:pt x="0" y="102592"/>
                  <a:pt x="29622" y="132214"/>
                  <a:pt x="66107" y="132214"/>
                </a:cubicBezTo>
                <a:close/>
                <a:moveTo>
                  <a:pt x="87902" y="54926"/>
                </a:moveTo>
                <a:lnTo>
                  <a:pt x="67243" y="87979"/>
                </a:lnTo>
                <a:cubicBezTo>
                  <a:pt x="66159" y="89709"/>
                  <a:pt x="64299" y="90794"/>
                  <a:pt x="62259" y="90897"/>
                </a:cubicBezTo>
                <a:cubicBezTo>
                  <a:pt x="60219" y="91000"/>
                  <a:pt x="58257" y="90071"/>
                  <a:pt x="57043" y="88418"/>
                </a:cubicBezTo>
                <a:lnTo>
                  <a:pt x="44648" y="71891"/>
                </a:lnTo>
                <a:cubicBezTo>
                  <a:pt x="42582" y="69154"/>
                  <a:pt x="43150" y="65281"/>
                  <a:pt x="45887" y="63215"/>
                </a:cubicBezTo>
                <a:cubicBezTo>
                  <a:pt x="48625" y="61149"/>
                  <a:pt x="52498" y="61717"/>
                  <a:pt x="54564" y="64454"/>
                </a:cubicBezTo>
                <a:lnTo>
                  <a:pt x="61536" y="73751"/>
                </a:lnTo>
                <a:lnTo>
                  <a:pt x="77392" y="48366"/>
                </a:lnTo>
                <a:cubicBezTo>
                  <a:pt x="79199" y="45474"/>
                  <a:pt x="83021" y="44571"/>
                  <a:pt x="85939" y="46404"/>
                </a:cubicBezTo>
                <a:cubicBezTo>
                  <a:pt x="88857" y="48237"/>
                  <a:pt x="89735" y="52033"/>
                  <a:pt x="87902" y="54951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644923" y="6467026"/>
            <a:ext cx="4240285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1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AOV:</a:t>
            </a:r>
            <a:r>
              <a:rPr lang="en-US" sz="104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$12.7K average order value demonstrates premium positioning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6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348094" y="626570"/>
            <a:ext cx="11704668" cy="417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89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Strategic Insights &amp; Recommendations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348094" y="1148711"/>
            <a:ext cx="835426" cy="34809"/>
          </a:xfrm>
          <a:custGeom>
            <a:rect b="b" l="l" r="r" t="t"/>
            <a:pathLst>
              <a:path extrusionOk="0" h="34809" w="835426">
                <a:moveTo>
                  <a:pt x="0" y="0"/>
                </a:moveTo>
                <a:lnTo>
                  <a:pt x="835426" y="0"/>
                </a:lnTo>
                <a:lnTo>
                  <a:pt x="835426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365499" y="1357567"/>
            <a:ext cx="5639126" cy="2227803"/>
          </a:xfrm>
          <a:custGeom>
            <a:rect b="b" l="l" r="r" t="t"/>
            <a:pathLst>
              <a:path extrusionOk="0" h="2227803" w="5639126">
                <a:moveTo>
                  <a:pt x="34809" y="0"/>
                </a:moveTo>
                <a:lnTo>
                  <a:pt x="5569507" y="0"/>
                </a:lnTo>
                <a:cubicBezTo>
                  <a:pt x="5607957" y="0"/>
                  <a:pt x="5639126" y="31169"/>
                  <a:pt x="5639126" y="69619"/>
                </a:cubicBezTo>
                <a:lnTo>
                  <a:pt x="5639126" y="2158184"/>
                </a:lnTo>
                <a:cubicBezTo>
                  <a:pt x="5639126" y="2196608"/>
                  <a:pt x="5607931" y="2227803"/>
                  <a:pt x="5569507" y="2227803"/>
                </a:cubicBez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365499" y="1357567"/>
            <a:ext cx="34809" cy="2227803"/>
          </a:xfrm>
          <a:custGeom>
            <a:rect b="b" l="l" r="r" t="t"/>
            <a:pathLst>
              <a:path extrusionOk="0" h="2227803" w="34809">
                <a:moveTo>
                  <a:pt x="34809" y="0"/>
                </a:moveTo>
                <a:lnTo>
                  <a:pt x="34809" y="0"/>
                </a:lnTo>
                <a:lnTo>
                  <a:pt x="34809" y="2227803"/>
                </a:ln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56951" y="1531615"/>
            <a:ext cx="417713" cy="417713"/>
          </a:xfrm>
          <a:custGeom>
            <a:rect b="b" l="l" r="r" t="t"/>
            <a:pathLst>
              <a:path extrusionOk="0" h="417713" w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661379" y="1636043"/>
            <a:ext cx="208857" cy="208857"/>
          </a:xfrm>
          <a:custGeom>
            <a:rect b="b" l="l" r="r" t="t"/>
            <a:pathLst>
              <a:path extrusionOk="0" h="208857" w="208857">
                <a:moveTo>
                  <a:pt x="104428" y="0"/>
                </a:moveTo>
                <a:cubicBezTo>
                  <a:pt x="110425" y="0"/>
                  <a:pt x="115932" y="3304"/>
                  <a:pt x="118787" y="8566"/>
                </a:cubicBezTo>
                <a:lnTo>
                  <a:pt x="206899" y="171736"/>
                </a:lnTo>
                <a:cubicBezTo>
                  <a:pt x="209632" y="176794"/>
                  <a:pt x="209509" y="182913"/>
                  <a:pt x="206572" y="187849"/>
                </a:cubicBezTo>
                <a:cubicBezTo>
                  <a:pt x="203635" y="192784"/>
                  <a:pt x="198291" y="195803"/>
                  <a:pt x="192540" y="195803"/>
                </a:cubicBezTo>
                <a:lnTo>
                  <a:pt x="16317" y="195803"/>
                </a:lnTo>
                <a:cubicBezTo>
                  <a:pt x="10565" y="195803"/>
                  <a:pt x="5262" y="192784"/>
                  <a:pt x="2284" y="187849"/>
                </a:cubicBezTo>
                <a:cubicBezTo>
                  <a:pt x="-693" y="182913"/>
                  <a:pt x="-775" y="176794"/>
                  <a:pt x="1958" y="171736"/>
                </a:cubicBezTo>
                <a:lnTo>
                  <a:pt x="90069" y="8566"/>
                </a:lnTo>
                <a:cubicBezTo>
                  <a:pt x="92925" y="3304"/>
                  <a:pt x="98432" y="0"/>
                  <a:pt x="104428" y="0"/>
                </a:cubicBezTo>
                <a:close/>
                <a:moveTo>
                  <a:pt x="104428" y="68531"/>
                </a:moveTo>
                <a:cubicBezTo>
                  <a:pt x="99003" y="68531"/>
                  <a:pt x="94638" y="72896"/>
                  <a:pt x="94638" y="78321"/>
                </a:cubicBezTo>
                <a:lnTo>
                  <a:pt x="94638" y="124009"/>
                </a:lnTo>
                <a:cubicBezTo>
                  <a:pt x="94638" y="129434"/>
                  <a:pt x="99003" y="133799"/>
                  <a:pt x="104428" y="133799"/>
                </a:cubicBezTo>
                <a:cubicBezTo>
                  <a:pt x="109854" y="133799"/>
                  <a:pt x="114218" y="129434"/>
                  <a:pt x="114218" y="124009"/>
                </a:cubicBezTo>
                <a:lnTo>
                  <a:pt x="114218" y="78321"/>
                </a:lnTo>
                <a:cubicBezTo>
                  <a:pt x="114218" y="72896"/>
                  <a:pt x="109854" y="68531"/>
                  <a:pt x="104428" y="68531"/>
                </a:cubicBezTo>
                <a:close/>
                <a:moveTo>
                  <a:pt x="115320" y="156642"/>
                </a:moveTo>
                <a:cubicBezTo>
                  <a:pt x="115568" y="152600"/>
                  <a:pt x="113551" y="148753"/>
                  <a:pt x="110086" y="146657"/>
                </a:cubicBezTo>
                <a:cubicBezTo>
                  <a:pt x="106620" y="144561"/>
                  <a:pt x="102277" y="144561"/>
                  <a:pt x="98812" y="146657"/>
                </a:cubicBezTo>
                <a:cubicBezTo>
                  <a:pt x="95346" y="148753"/>
                  <a:pt x="93330" y="152600"/>
                  <a:pt x="93578" y="156642"/>
                </a:cubicBezTo>
                <a:cubicBezTo>
                  <a:pt x="93330" y="160685"/>
                  <a:pt x="95346" y="164532"/>
                  <a:pt x="98812" y="166628"/>
                </a:cubicBezTo>
                <a:cubicBezTo>
                  <a:pt x="102277" y="168724"/>
                  <a:pt x="106620" y="168724"/>
                  <a:pt x="110086" y="166628"/>
                </a:cubicBezTo>
                <a:cubicBezTo>
                  <a:pt x="113551" y="164532"/>
                  <a:pt x="115568" y="160685"/>
                  <a:pt x="115320" y="156642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079092" y="1601233"/>
            <a:ext cx="2784754" cy="27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5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Risk: Category Concentration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556951" y="2088565"/>
            <a:ext cx="5343246" cy="452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6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Challenge:</a:t>
            </a:r>
            <a:r>
              <a:rPr lang="en-US" sz="1096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75% of revenue depends on just two product categories (Computers &amp; Cameras), creating significant vulnerability to market shifts.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556951" y="2645516"/>
            <a:ext cx="5273627" cy="765807"/>
          </a:xfrm>
          <a:custGeom>
            <a:rect b="b" l="l" r="r" t="t"/>
            <a:pathLst>
              <a:path extrusionOk="0" h="765807" w="5273627">
                <a:moveTo>
                  <a:pt x="34806" y="0"/>
                </a:moveTo>
                <a:lnTo>
                  <a:pt x="5238821" y="0"/>
                </a:lnTo>
                <a:cubicBezTo>
                  <a:pt x="5258044" y="0"/>
                  <a:pt x="5273627" y="15583"/>
                  <a:pt x="5273627" y="34806"/>
                </a:cubicBezTo>
                <a:lnTo>
                  <a:pt x="5273627" y="731001"/>
                </a:lnTo>
                <a:cubicBezTo>
                  <a:pt x="5273627" y="750224"/>
                  <a:pt x="5258044" y="765807"/>
                  <a:pt x="5238821" y="765807"/>
                </a:cubicBezTo>
                <a:lnTo>
                  <a:pt x="34806" y="765807"/>
                </a:lnTo>
                <a:cubicBezTo>
                  <a:pt x="15583" y="765807"/>
                  <a:pt x="0" y="750224"/>
                  <a:pt x="0" y="731001"/>
                </a:cubicBezTo>
                <a:lnTo>
                  <a:pt x="0" y="34806"/>
                </a:lnTo>
                <a:cubicBezTo>
                  <a:pt x="0" y="15596"/>
                  <a:pt x="15596" y="0"/>
                  <a:pt x="3480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661379" y="2749944"/>
            <a:ext cx="5125687" cy="17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9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661379" y="2958801"/>
            <a:ext cx="5125687" cy="348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9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Diversify product portfolio by investing in emerging categories and expanding offerings in underperforming segments.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199884" y="1357567"/>
            <a:ext cx="5639126" cy="2227803"/>
          </a:xfrm>
          <a:custGeom>
            <a:rect b="b" l="l" r="r" t="t"/>
            <a:pathLst>
              <a:path extrusionOk="0" h="2227803" w="5639126">
                <a:moveTo>
                  <a:pt x="34809" y="0"/>
                </a:moveTo>
                <a:lnTo>
                  <a:pt x="5569507" y="0"/>
                </a:lnTo>
                <a:cubicBezTo>
                  <a:pt x="5607957" y="0"/>
                  <a:pt x="5639126" y="31169"/>
                  <a:pt x="5639126" y="69619"/>
                </a:cubicBezTo>
                <a:lnTo>
                  <a:pt x="5639126" y="2158184"/>
                </a:lnTo>
                <a:cubicBezTo>
                  <a:pt x="5639126" y="2196608"/>
                  <a:pt x="5607931" y="2227803"/>
                  <a:pt x="5569507" y="2227803"/>
                </a:cubicBez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199884" y="1357567"/>
            <a:ext cx="34809" cy="2227803"/>
          </a:xfrm>
          <a:custGeom>
            <a:rect b="b" l="l" r="r" t="t"/>
            <a:pathLst>
              <a:path extrusionOk="0" h="2227803" w="34809">
                <a:moveTo>
                  <a:pt x="34809" y="0"/>
                </a:moveTo>
                <a:lnTo>
                  <a:pt x="34809" y="0"/>
                </a:lnTo>
                <a:lnTo>
                  <a:pt x="34809" y="2227803"/>
                </a:ln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6391336" y="1531615"/>
            <a:ext cx="417713" cy="417713"/>
          </a:xfrm>
          <a:custGeom>
            <a:rect b="b" l="l" r="r" t="t"/>
            <a:pathLst>
              <a:path extrusionOk="0" h="417713" w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6495764" y="1636043"/>
            <a:ext cx="208857" cy="208857"/>
          </a:xfrm>
          <a:custGeom>
            <a:rect b="b" l="l" r="r" t="t"/>
            <a:pathLst>
              <a:path extrusionOk="0" h="208857" w="208857">
                <a:moveTo>
                  <a:pt x="22721" y="81462"/>
                </a:moveTo>
                <a:lnTo>
                  <a:pt x="35326" y="94067"/>
                </a:lnTo>
                <a:cubicBezTo>
                  <a:pt x="37774" y="96515"/>
                  <a:pt x="41078" y="97901"/>
                  <a:pt x="44545" y="97901"/>
                </a:cubicBezTo>
                <a:lnTo>
                  <a:pt x="53316" y="97901"/>
                </a:lnTo>
                <a:cubicBezTo>
                  <a:pt x="56783" y="97901"/>
                  <a:pt x="60087" y="99288"/>
                  <a:pt x="62535" y="101736"/>
                </a:cubicBezTo>
                <a:lnTo>
                  <a:pt x="74487" y="113688"/>
                </a:lnTo>
                <a:cubicBezTo>
                  <a:pt x="76934" y="116136"/>
                  <a:pt x="78321" y="119440"/>
                  <a:pt x="78321" y="122907"/>
                </a:cubicBezTo>
                <a:lnTo>
                  <a:pt x="78321" y="138204"/>
                </a:lnTo>
                <a:cubicBezTo>
                  <a:pt x="78321" y="141672"/>
                  <a:pt x="79708" y="144976"/>
                  <a:pt x="82156" y="147423"/>
                </a:cubicBezTo>
                <a:lnTo>
                  <a:pt x="87581" y="152849"/>
                </a:lnTo>
                <a:cubicBezTo>
                  <a:pt x="90029" y="155296"/>
                  <a:pt x="91416" y="158600"/>
                  <a:pt x="91416" y="162068"/>
                </a:cubicBezTo>
                <a:lnTo>
                  <a:pt x="91416" y="169696"/>
                </a:lnTo>
                <a:cubicBezTo>
                  <a:pt x="91416" y="176916"/>
                  <a:pt x="97249" y="182749"/>
                  <a:pt x="104469" y="182749"/>
                </a:cubicBezTo>
                <a:cubicBezTo>
                  <a:pt x="111689" y="182749"/>
                  <a:pt x="117523" y="176916"/>
                  <a:pt x="117523" y="169696"/>
                </a:cubicBezTo>
                <a:lnTo>
                  <a:pt x="117523" y="168595"/>
                </a:lnTo>
                <a:cubicBezTo>
                  <a:pt x="117523" y="165127"/>
                  <a:pt x="118910" y="161823"/>
                  <a:pt x="121357" y="159375"/>
                </a:cubicBezTo>
                <a:lnTo>
                  <a:pt x="139836" y="140897"/>
                </a:lnTo>
                <a:cubicBezTo>
                  <a:pt x="142284" y="138449"/>
                  <a:pt x="143670" y="135145"/>
                  <a:pt x="143670" y="131678"/>
                </a:cubicBezTo>
                <a:lnTo>
                  <a:pt x="143670" y="117523"/>
                </a:lnTo>
                <a:cubicBezTo>
                  <a:pt x="143670" y="110302"/>
                  <a:pt x="137837" y="104469"/>
                  <a:pt x="130617" y="104469"/>
                </a:cubicBezTo>
                <a:lnTo>
                  <a:pt x="96882" y="104469"/>
                </a:lnTo>
                <a:cubicBezTo>
                  <a:pt x="93414" y="104469"/>
                  <a:pt x="90110" y="103082"/>
                  <a:pt x="87663" y="100635"/>
                </a:cubicBezTo>
                <a:lnTo>
                  <a:pt x="81136" y="94108"/>
                </a:lnTo>
                <a:cubicBezTo>
                  <a:pt x="79423" y="92395"/>
                  <a:pt x="78444" y="90029"/>
                  <a:pt x="78444" y="87581"/>
                </a:cubicBezTo>
                <a:cubicBezTo>
                  <a:pt x="78444" y="82482"/>
                  <a:pt x="82564" y="78362"/>
                  <a:pt x="87663" y="78362"/>
                </a:cubicBezTo>
                <a:lnTo>
                  <a:pt x="101818" y="78362"/>
                </a:lnTo>
                <a:cubicBezTo>
                  <a:pt x="106917" y="78362"/>
                  <a:pt x="111037" y="74242"/>
                  <a:pt x="111037" y="69143"/>
                </a:cubicBezTo>
                <a:cubicBezTo>
                  <a:pt x="111037" y="66695"/>
                  <a:pt x="110058" y="64329"/>
                  <a:pt x="108344" y="62616"/>
                </a:cubicBezTo>
                <a:lnTo>
                  <a:pt x="100308" y="54580"/>
                </a:lnTo>
                <a:cubicBezTo>
                  <a:pt x="98717" y="53030"/>
                  <a:pt x="97901" y="51031"/>
                  <a:pt x="97901" y="48951"/>
                </a:cubicBezTo>
                <a:cubicBezTo>
                  <a:pt x="97901" y="46870"/>
                  <a:pt x="98717" y="44872"/>
                  <a:pt x="100227" y="43362"/>
                </a:cubicBezTo>
                <a:lnTo>
                  <a:pt x="107284" y="36305"/>
                </a:lnTo>
                <a:cubicBezTo>
                  <a:pt x="109650" y="33939"/>
                  <a:pt x="110996" y="30717"/>
                  <a:pt x="110996" y="27372"/>
                </a:cubicBezTo>
                <a:cubicBezTo>
                  <a:pt x="110996" y="24435"/>
                  <a:pt x="110017" y="21783"/>
                  <a:pt x="108385" y="19662"/>
                </a:cubicBezTo>
                <a:cubicBezTo>
                  <a:pt x="107080" y="19621"/>
                  <a:pt x="105774" y="19580"/>
                  <a:pt x="104469" y="19580"/>
                </a:cubicBezTo>
                <a:cubicBezTo>
                  <a:pt x="65553" y="19580"/>
                  <a:pt x="32797" y="45769"/>
                  <a:pt x="22762" y="81462"/>
                </a:cubicBezTo>
                <a:close/>
                <a:moveTo>
                  <a:pt x="189276" y="104428"/>
                </a:moveTo>
                <a:cubicBezTo>
                  <a:pt x="189276" y="90314"/>
                  <a:pt x="185850" y="77016"/>
                  <a:pt x="179731" y="65349"/>
                </a:cubicBezTo>
                <a:cubicBezTo>
                  <a:pt x="177120" y="65716"/>
                  <a:pt x="174550" y="66940"/>
                  <a:pt x="172429" y="69061"/>
                </a:cubicBezTo>
                <a:lnTo>
                  <a:pt x="166963" y="74528"/>
                </a:lnTo>
                <a:cubicBezTo>
                  <a:pt x="164515" y="76975"/>
                  <a:pt x="163128" y="80279"/>
                  <a:pt x="163128" y="83747"/>
                </a:cubicBezTo>
                <a:lnTo>
                  <a:pt x="163128" y="97901"/>
                </a:lnTo>
                <a:cubicBezTo>
                  <a:pt x="163128" y="105122"/>
                  <a:pt x="168962" y="110955"/>
                  <a:pt x="176182" y="110955"/>
                </a:cubicBezTo>
                <a:lnTo>
                  <a:pt x="186013" y="110955"/>
                </a:lnTo>
                <a:cubicBezTo>
                  <a:pt x="187033" y="110955"/>
                  <a:pt x="188052" y="110833"/>
                  <a:pt x="188991" y="110629"/>
                </a:cubicBezTo>
                <a:cubicBezTo>
                  <a:pt x="189154" y="108589"/>
                  <a:pt x="189195" y="106509"/>
                  <a:pt x="189195" y="104428"/>
                </a:cubicBezTo>
                <a:close/>
                <a:moveTo>
                  <a:pt x="0" y="104428"/>
                </a:moveTo>
                <a:cubicBezTo>
                  <a:pt x="0" y="46793"/>
                  <a:pt x="46793" y="0"/>
                  <a:pt x="104428" y="0"/>
                </a:cubicBezTo>
                <a:cubicBezTo>
                  <a:pt x="162064" y="0"/>
                  <a:pt x="208857" y="46793"/>
                  <a:pt x="208857" y="104428"/>
                </a:cubicBezTo>
                <a:cubicBezTo>
                  <a:pt x="208857" y="162064"/>
                  <a:pt x="162064" y="208857"/>
                  <a:pt x="104428" y="208857"/>
                </a:cubicBezTo>
                <a:cubicBezTo>
                  <a:pt x="46793" y="208857"/>
                  <a:pt x="0" y="162064"/>
                  <a:pt x="0" y="104428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913478" y="1601233"/>
            <a:ext cx="3367812" cy="27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5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Opportunity: Geographic Expansion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6391336" y="2088565"/>
            <a:ext cx="5343246" cy="452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6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Insight:</a:t>
            </a:r>
            <a:r>
              <a:rPr lang="en-US" sz="1096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 market dominates with 63% share, while emerging markets remain underpenetrated, representing untapped potential.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6391336" y="2645516"/>
            <a:ext cx="5273627" cy="765807"/>
          </a:xfrm>
          <a:custGeom>
            <a:rect b="b" l="l" r="r" t="t"/>
            <a:pathLst>
              <a:path extrusionOk="0" h="765807" w="5273627">
                <a:moveTo>
                  <a:pt x="34806" y="0"/>
                </a:moveTo>
                <a:lnTo>
                  <a:pt x="5238821" y="0"/>
                </a:lnTo>
                <a:cubicBezTo>
                  <a:pt x="5258044" y="0"/>
                  <a:pt x="5273627" y="15583"/>
                  <a:pt x="5273627" y="34806"/>
                </a:cubicBezTo>
                <a:lnTo>
                  <a:pt x="5273627" y="731001"/>
                </a:lnTo>
                <a:cubicBezTo>
                  <a:pt x="5273627" y="750224"/>
                  <a:pt x="5258044" y="765807"/>
                  <a:pt x="5238821" y="765807"/>
                </a:cubicBezTo>
                <a:lnTo>
                  <a:pt x="34806" y="765807"/>
                </a:lnTo>
                <a:cubicBezTo>
                  <a:pt x="15583" y="765807"/>
                  <a:pt x="0" y="750224"/>
                  <a:pt x="0" y="731001"/>
                </a:cubicBezTo>
                <a:lnTo>
                  <a:pt x="0" y="34806"/>
                </a:lnTo>
                <a:cubicBezTo>
                  <a:pt x="0" y="15596"/>
                  <a:pt x="15596" y="0"/>
                  <a:pt x="3480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6495764" y="2749944"/>
            <a:ext cx="5125687" cy="17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9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6495764" y="2958801"/>
            <a:ext cx="5125687" cy="348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9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 targeted market entry strategies for high-growth regions in Asia-Pacific and Latin America.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365499" y="3759418"/>
            <a:ext cx="5639126" cy="2227803"/>
          </a:xfrm>
          <a:custGeom>
            <a:rect b="b" l="l" r="r" t="t"/>
            <a:pathLst>
              <a:path extrusionOk="0" h="2227803" w="5639126">
                <a:moveTo>
                  <a:pt x="34809" y="0"/>
                </a:moveTo>
                <a:lnTo>
                  <a:pt x="5569507" y="0"/>
                </a:lnTo>
                <a:cubicBezTo>
                  <a:pt x="5607957" y="0"/>
                  <a:pt x="5639126" y="31169"/>
                  <a:pt x="5639126" y="69619"/>
                </a:cubicBezTo>
                <a:lnTo>
                  <a:pt x="5639126" y="2158184"/>
                </a:lnTo>
                <a:cubicBezTo>
                  <a:pt x="5639126" y="2196608"/>
                  <a:pt x="5607931" y="2227803"/>
                  <a:pt x="5569507" y="2227803"/>
                </a:cubicBez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365499" y="3759418"/>
            <a:ext cx="34809" cy="2227803"/>
          </a:xfrm>
          <a:custGeom>
            <a:rect b="b" l="l" r="r" t="t"/>
            <a:pathLst>
              <a:path extrusionOk="0" h="2227803" w="34809">
                <a:moveTo>
                  <a:pt x="34809" y="0"/>
                </a:moveTo>
                <a:lnTo>
                  <a:pt x="34809" y="0"/>
                </a:lnTo>
                <a:lnTo>
                  <a:pt x="34809" y="2227803"/>
                </a:ln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56951" y="3933465"/>
            <a:ext cx="417713" cy="417713"/>
          </a:xfrm>
          <a:custGeom>
            <a:rect b="b" l="l" r="r" t="t"/>
            <a:pathLst>
              <a:path extrusionOk="0" h="417713" w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635272" y="4037893"/>
            <a:ext cx="261071" cy="208857"/>
          </a:xfrm>
          <a:custGeom>
            <a:rect b="b" l="l" r="r" t="t"/>
            <a:pathLst>
              <a:path extrusionOk="0" h="208857" w="261071">
                <a:moveTo>
                  <a:pt x="52214" y="13054"/>
                </a:moveTo>
                <a:cubicBezTo>
                  <a:pt x="37814" y="13054"/>
                  <a:pt x="26107" y="24761"/>
                  <a:pt x="26107" y="39161"/>
                </a:cubicBezTo>
                <a:lnTo>
                  <a:pt x="26107" y="137062"/>
                </a:lnTo>
                <a:lnTo>
                  <a:pt x="52214" y="137062"/>
                </a:lnTo>
                <a:lnTo>
                  <a:pt x="52214" y="39161"/>
                </a:lnTo>
                <a:lnTo>
                  <a:pt x="208857" y="39161"/>
                </a:lnTo>
                <a:lnTo>
                  <a:pt x="208857" y="137062"/>
                </a:lnTo>
                <a:lnTo>
                  <a:pt x="234964" y="137062"/>
                </a:lnTo>
                <a:lnTo>
                  <a:pt x="234964" y="39161"/>
                </a:lnTo>
                <a:cubicBezTo>
                  <a:pt x="234964" y="24761"/>
                  <a:pt x="223256" y="13054"/>
                  <a:pt x="208857" y="13054"/>
                </a:cubicBezTo>
                <a:lnTo>
                  <a:pt x="52214" y="13054"/>
                </a:lnTo>
                <a:close/>
                <a:moveTo>
                  <a:pt x="7832" y="156642"/>
                </a:moveTo>
                <a:cubicBezTo>
                  <a:pt x="3508" y="156642"/>
                  <a:pt x="0" y="160151"/>
                  <a:pt x="0" y="164475"/>
                </a:cubicBezTo>
                <a:cubicBezTo>
                  <a:pt x="0" y="181770"/>
                  <a:pt x="14033" y="195803"/>
                  <a:pt x="31328" y="195803"/>
                </a:cubicBezTo>
                <a:lnTo>
                  <a:pt x="229742" y="195803"/>
                </a:lnTo>
                <a:cubicBezTo>
                  <a:pt x="247038" y="195803"/>
                  <a:pt x="261071" y="181770"/>
                  <a:pt x="261071" y="164475"/>
                </a:cubicBezTo>
                <a:cubicBezTo>
                  <a:pt x="261071" y="160151"/>
                  <a:pt x="257563" y="156642"/>
                  <a:pt x="253239" y="156642"/>
                </a:cubicBezTo>
                <a:lnTo>
                  <a:pt x="7832" y="156642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1079092" y="4003084"/>
            <a:ext cx="3411323" cy="27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5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Opportunity: Digital Channel Growth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556951" y="4490415"/>
            <a:ext cx="5343246" cy="452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6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Insight:</a:t>
            </a:r>
            <a:r>
              <a:rPr lang="en-US" sz="1096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Online channel represents only 20% of sales despite global e-commerce growth trends, indicating expansion potential.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556951" y="5047366"/>
            <a:ext cx="5273627" cy="765807"/>
          </a:xfrm>
          <a:custGeom>
            <a:rect b="b" l="l" r="r" t="t"/>
            <a:pathLst>
              <a:path extrusionOk="0" h="765807" w="5273627">
                <a:moveTo>
                  <a:pt x="34806" y="0"/>
                </a:moveTo>
                <a:lnTo>
                  <a:pt x="5238821" y="0"/>
                </a:lnTo>
                <a:cubicBezTo>
                  <a:pt x="5258044" y="0"/>
                  <a:pt x="5273627" y="15583"/>
                  <a:pt x="5273627" y="34806"/>
                </a:cubicBezTo>
                <a:lnTo>
                  <a:pt x="5273627" y="731001"/>
                </a:lnTo>
                <a:cubicBezTo>
                  <a:pt x="5273627" y="750224"/>
                  <a:pt x="5258044" y="765807"/>
                  <a:pt x="5238821" y="765807"/>
                </a:cubicBezTo>
                <a:lnTo>
                  <a:pt x="34806" y="765807"/>
                </a:lnTo>
                <a:cubicBezTo>
                  <a:pt x="15583" y="765807"/>
                  <a:pt x="0" y="750224"/>
                  <a:pt x="0" y="731001"/>
                </a:cubicBezTo>
                <a:lnTo>
                  <a:pt x="0" y="34806"/>
                </a:lnTo>
                <a:cubicBezTo>
                  <a:pt x="0" y="15596"/>
                  <a:pt x="15596" y="0"/>
                  <a:pt x="3480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661379" y="5151794"/>
            <a:ext cx="5125687" cy="17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9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61379" y="5360651"/>
            <a:ext cx="5125687" cy="348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9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 in digital infrastructure, e-commerce optimization, and omnichannel integration to capture online market share.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199884" y="3759418"/>
            <a:ext cx="5639126" cy="2227803"/>
          </a:xfrm>
          <a:custGeom>
            <a:rect b="b" l="l" r="r" t="t"/>
            <a:pathLst>
              <a:path extrusionOk="0" h="2227803" w="5639126">
                <a:moveTo>
                  <a:pt x="34809" y="0"/>
                </a:moveTo>
                <a:lnTo>
                  <a:pt x="5569507" y="0"/>
                </a:lnTo>
                <a:cubicBezTo>
                  <a:pt x="5607957" y="0"/>
                  <a:pt x="5639126" y="31169"/>
                  <a:pt x="5639126" y="69619"/>
                </a:cubicBezTo>
                <a:lnTo>
                  <a:pt x="5639126" y="2158184"/>
                </a:lnTo>
                <a:cubicBezTo>
                  <a:pt x="5639126" y="2196608"/>
                  <a:pt x="5607931" y="2227803"/>
                  <a:pt x="5569507" y="2227803"/>
                </a:cubicBez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199884" y="3759418"/>
            <a:ext cx="34809" cy="2227803"/>
          </a:xfrm>
          <a:custGeom>
            <a:rect b="b" l="l" r="r" t="t"/>
            <a:pathLst>
              <a:path extrusionOk="0" h="2227803" w="34809">
                <a:moveTo>
                  <a:pt x="34809" y="0"/>
                </a:moveTo>
                <a:lnTo>
                  <a:pt x="34809" y="0"/>
                </a:lnTo>
                <a:lnTo>
                  <a:pt x="34809" y="2227803"/>
                </a:lnTo>
                <a:lnTo>
                  <a:pt x="34809" y="2227803"/>
                </a:lnTo>
                <a:cubicBezTo>
                  <a:pt x="15585" y="2227803"/>
                  <a:pt x="0" y="2212218"/>
                  <a:pt x="0" y="219299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6391336" y="3933465"/>
            <a:ext cx="417713" cy="417713"/>
          </a:xfrm>
          <a:custGeom>
            <a:rect b="b" l="l" r="r" t="t"/>
            <a:pathLst>
              <a:path extrusionOk="0" h="417713" w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495764" y="4037893"/>
            <a:ext cx="208857" cy="208857"/>
          </a:xfrm>
          <a:custGeom>
            <a:rect b="b" l="l" r="r" t="t"/>
            <a:pathLst>
              <a:path extrusionOk="0" h="208857" w="208857">
                <a:moveTo>
                  <a:pt x="26107" y="26107"/>
                </a:moveTo>
                <a:cubicBezTo>
                  <a:pt x="26107" y="18887"/>
                  <a:pt x="20274" y="13054"/>
                  <a:pt x="13054" y="13054"/>
                </a:cubicBezTo>
                <a:cubicBezTo>
                  <a:pt x="5833" y="13054"/>
                  <a:pt x="0" y="18887"/>
                  <a:pt x="0" y="26107"/>
                </a:cubicBezTo>
                <a:lnTo>
                  <a:pt x="0" y="163169"/>
                </a:lnTo>
                <a:cubicBezTo>
                  <a:pt x="0" y="181199"/>
                  <a:pt x="14604" y="195803"/>
                  <a:pt x="32634" y="195803"/>
                </a:cubicBezTo>
                <a:lnTo>
                  <a:pt x="195803" y="195803"/>
                </a:lnTo>
                <a:cubicBezTo>
                  <a:pt x="203023" y="195803"/>
                  <a:pt x="208857" y="189970"/>
                  <a:pt x="208857" y="182749"/>
                </a:cubicBezTo>
                <a:cubicBezTo>
                  <a:pt x="208857" y="175529"/>
                  <a:pt x="203023" y="169696"/>
                  <a:pt x="195803" y="169696"/>
                </a:cubicBezTo>
                <a:lnTo>
                  <a:pt x="32634" y="169696"/>
                </a:lnTo>
                <a:cubicBezTo>
                  <a:pt x="29044" y="169696"/>
                  <a:pt x="26107" y="166759"/>
                  <a:pt x="26107" y="163169"/>
                </a:cubicBezTo>
                <a:lnTo>
                  <a:pt x="26107" y="26107"/>
                </a:lnTo>
                <a:close/>
                <a:moveTo>
                  <a:pt x="191969" y="61433"/>
                </a:moveTo>
                <a:cubicBezTo>
                  <a:pt x="197068" y="56334"/>
                  <a:pt x="197068" y="48053"/>
                  <a:pt x="191969" y="42954"/>
                </a:cubicBezTo>
                <a:cubicBezTo>
                  <a:pt x="186869" y="37855"/>
                  <a:pt x="178589" y="37855"/>
                  <a:pt x="173490" y="42954"/>
                </a:cubicBezTo>
                <a:lnTo>
                  <a:pt x="130535" y="85949"/>
                </a:lnTo>
                <a:lnTo>
                  <a:pt x="107121" y="62575"/>
                </a:lnTo>
                <a:cubicBezTo>
                  <a:pt x="102022" y="57476"/>
                  <a:pt x="93741" y="57476"/>
                  <a:pt x="88642" y="62575"/>
                </a:cubicBezTo>
                <a:lnTo>
                  <a:pt x="49481" y="101736"/>
                </a:lnTo>
                <a:cubicBezTo>
                  <a:pt x="44382" y="106835"/>
                  <a:pt x="44382" y="115116"/>
                  <a:pt x="49481" y="120215"/>
                </a:cubicBezTo>
                <a:cubicBezTo>
                  <a:pt x="54580" y="125314"/>
                  <a:pt x="62861" y="125314"/>
                  <a:pt x="67960" y="120215"/>
                </a:cubicBezTo>
                <a:lnTo>
                  <a:pt x="97901" y="90273"/>
                </a:lnTo>
                <a:lnTo>
                  <a:pt x="121316" y="113688"/>
                </a:lnTo>
                <a:cubicBezTo>
                  <a:pt x="126415" y="118787"/>
                  <a:pt x="134696" y="118787"/>
                  <a:pt x="139795" y="113688"/>
                </a:cubicBezTo>
                <a:lnTo>
                  <a:pt x="192009" y="61474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6913478" y="4003084"/>
            <a:ext cx="2958801" cy="27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5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Strength: Profitability Leverage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391336" y="4490415"/>
            <a:ext cx="5343246" cy="452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6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Advantage:</a:t>
            </a:r>
            <a:r>
              <a:rPr lang="en-US" sz="1096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57% profit margin provides substantial financial flexibility for strategic investments and competitive initiatives.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391336" y="5047366"/>
            <a:ext cx="5273627" cy="765807"/>
          </a:xfrm>
          <a:custGeom>
            <a:rect b="b" l="l" r="r" t="t"/>
            <a:pathLst>
              <a:path extrusionOk="0" h="765807" w="5273627">
                <a:moveTo>
                  <a:pt x="34806" y="0"/>
                </a:moveTo>
                <a:lnTo>
                  <a:pt x="5238821" y="0"/>
                </a:lnTo>
                <a:cubicBezTo>
                  <a:pt x="5258044" y="0"/>
                  <a:pt x="5273627" y="15583"/>
                  <a:pt x="5273627" y="34806"/>
                </a:cubicBezTo>
                <a:lnTo>
                  <a:pt x="5273627" y="731001"/>
                </a:lnTo>
                <a:cubicBezTo>
                  <a:pt x="5273627" y="750224"/>
                  <a:pt x="5258044" y="765807"/>
                  <a:pt x="5238821" y="765807"/>
                </a:cubicBezTo>
                <a:lnTo>
                  <a:pt x="34806" y="765807"/>
                </a:lnTo>
                <a:cubicBezTo>
                  <a:pt x="15583" y="765807"/>
                  <a:pt x="0" y="750224"/>
                  <a:pt x="0" y="731001"/>
                </a:cubicBezTo>
                <a:lnTo>
                  <a:pt x="0" y="34806"/>
                </a:lnTo>
                <a:cubicBezTo>
                  <a:pt x="0" y="15596"/>
                  <a:pt x="15596" y="0"/>
                  <a:pt x="3480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6495764" y="5151794"/>
            <a:ext cx="5125687" cy="17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9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6495764" y="5360651"/>
            <a:ext cx="5125687" cy="348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9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Leverage strong margins to fund R&amp;D, market expansion, and brand building while maintaining profitability.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348094" y="6126458"/>
            <a:ext cx="11495812" cy="539546"/>
          </a:xfrm>
          <a:custGeom>
            <a:rect b="b" l="l" r="r" t="t"/>
            <a:pathLst>
              <a:path extrusionOk="0" h="539546" w="11495812">
                <a:moveTo>
                  <a:pt x="69618" y="0"/>
                </a:moveTo>
                <a:lnTo>
                  <a:pt x="11426194" y="0"/>
                </a:lnTo>
                <a:cubicBezTo>
                  <a:pt x="11464643" y="0"/>
                  <a:pt x="11495812" y="31169"/>
                  <a:pt x="11495812" y="69618"/>
                </a:cubicBezTo>
                <a:lnTo>
                  <a:pt x="11495812" y="469928"/>
                </a:lnTo>
                <a:cubicBezTo>
                  <a:pt x="11495812" y="508377"/>
                  <a:pt x="11464643" y="539546"/>
                  <a:pt x="11426194" y="539546"/>
                </a:cubicBezTo>
                <a:lnTo>
                  <a:pt x="69618" y="539546"/>
                </a:lnTo>
                <a:cubicBezTo>
                  <a:pt x="31169" y="539546"/>
                  <a:pt x="0" y="508377"/>
                  <a:pt x="0" y="469928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2D3E5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554775" y="6265696"/>
            <a:ext cx="195803" cy="261071"/>
          </a:xfrm>
          <a:custGeom>
            <a:rect b="b" l="l" r="r" t="t"/>
            <a:pathLst>
              <a:path extrusionOk="0" h="261071" w="195803">
                <a:moveTo>
                  <a:pt x="149351" y="195803"/>
                </a:moveTo>
                <a:cubicBezTo>
                  <a:pt x="153073" y="184432"/>
                  <a:pt x="160518" y="174132"/>
                  <a:pt x="168931" y="165260"/>
                </a:cubicBezTo>
                <a:cubicBezTo>
                  <a:pt x="185605" y="147719"/>
                  <a:pt x="195803" y="124009"/>
                  <a:pt x="195803" y="97901"/>
                </a:cubicBezTo>
                <a:cubicBezTo>
                  <a:pt x="195803" y="43852"/>
                  <a:pt x="151951" y="0"/>
                  <a:pt x="97901" y="0"/>
                </a:cubicBezTo>
                <a:cubicBezTo>
                  <a:pt x="43852" y="0"/>
                  <a:pt x="0" y="43852"/>
                  <a:pt x="0" y="97901"/>
                </a:cubicBezTo>
                <a:cubicBezTo>
                  <a:pt x="0" y="124009"/>
                  <a:pt x="10198" y="147719"/>
                  <a:pt x="26872" y="165260"/>
                </a:cubicBezTo>
                <a:cubicBezTo>
                  <a:pt x="35285" y="174132"/>
                  <a:pt x="42781" y="184432"/>
                  <a:pt x="46452" y="195803"/>
                </a:cubicBezTo>
                <a:lnTo>
                  <a:pt x="149300" y="195803"/>
                </a:lnTo>
                <a:close/>
                <a:moveTo>
                  <a:pt x="146852" y="220278"/>
                </a:moveTo>
                <a:lnTo>
                  <a:pt x="48951" y="220278"/>
                </a:lnTo>
                <a:lnTo>
                  <a:pt x="48951" y="228437"/>
                </a:lnTo>
                <a:cubicBezTo>
                  <a:pt x="48951" y="250975"/>
                  <a:pt x="67205" y="269229"/>
                  <a:pt x="89743" y="269229"/>
                </a:cubicBezTo>
                <a:lnTo>
                  <a:pt x="106060" y="269229"/>
                </a:lnTo>
                <a:cubicBezTo>
                  <a:pt x="128598" y="269229"/>
                  <a:pt x="146852" y="250975"/>
                  <a:pt x="146852" y="228437"/>
                </a:cubicBezTo>
                <a:lnTo>
                  <a:pt x="146852" y="220278"/>
                </a:lnTo>
                <a:close/>
                <a:moveTo>
                  <a:pt x="93822" y="57109"/>
                </a:moveTo>
                <a:cubicBezTo>
                  <a:pt x="73528" y="57109"/>
                  <a:pt x="57109" y="73528"/>
                  <a:pt x="57109" y="93822"/>
                </a:cubicBezTo>
                <a:cubicBezTo>
                  <a:pt x="57109" y="100604"/>
                  <a:pt x="51653" y="106060"/>
                  <a:pt x="44872" y="106060"/>
                </a:cubicBezTo>
                <a:cubicBezTo>
                  <a:pt x="38090" y="106060"/>
                  <a:pt x="32634" y="100604"/>
                  <a:pt x="32634" y="93822"/>
                </a:cubicBezTo>
                <a:cubicBezTo>
                  <a:pt x="32634" y="60016"/>
                  <a:pt x="60016" y="32634"/>
                  <a:pt x="93822" y="32634"/>
                </a:cubicBezTo>
                <a:cubicBezTo>
                  <a:pt x="100604" y="32634"/>
                  <a:pt x="106060" y="38090"/>
                  <a:pt x="106060" y="44872"/>
                </a:cubicBezTo>
                <a:cubicBezTo>
                  <a:pt x="106060" y="51653"/>
                  <a:pt x="100604" y="57109"/>
                  <a:pt x="93822" y="57109"/>
                </a:cubicBez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952908" y="6283101"/>
            <a:ext cx="10042518" cy="226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6">
                <a:solidFill>
                  <a:srgbClr val="00D4A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Priority:</a:t>
            </a:r>
            <a:r>
              <a:rPr lang="en-US" sz="1096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Balance short-term profitability with long-term diversification to build a resilient, sustainable business model capable of weathering market volatility.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4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6983e6e23342932f47c2fcf04355247c94126cf3.jpg" id="430" name="Google Shape;430;p12"/>
          <p:cNvPicPr preferRelativeResize="0"/>
          <p:nvPr/>
        </p:nvPicPr>
        <p:blipFill rotWithShape="1">
          <a:blip r:embed="rId3">
            <a:alphaModFix amt="20000"/>
          </a:blip>
          <a:srcRect b="0" l="18" r="1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31" name="Google Shape;431;p12"/>
          <p:cNvSpPr/>
          <p:nvPr/>
        </p:nvSpPr>
        <p:spPr>
          <a:xfrm>
            <a:off x="2875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4">
                  <a:alpha val="94901"/>
                </a:srgbClr>
              </a:gs>
              <a:gs pos="50000">
                <a:srgbClr val="1A1D24">
                  <a:alpha val="90196"/>
                </a:srgbClr>
              </a:gs>
              <a:gs pos="100000">
                <a:srgbClr val="00D4AA">
                  <a:alpha val="3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462530" y="-126692"/>
            <a:ext cx="1266940" cy="1101687"/>
          </a:xfrm>
          <a:custGeom>
            <a:rect b="b" l="l" r="r" t="t"/>
            <a:pathLst>
              <a:path extrusionOk="0" h="1101687" w="1266940">
                <a:moveTo>
                  <a:pt x="550843" y="0"/>
                </a:moveTo>
                <a:lnTo>
                  <a:pt x="716096" y="0"/>
                </a:lnTo>
                <a:cubicBezTo>
                  <a:pt x="1020115" y="0"/>
                  <a:pt x="1266940" y="246825"/>
                  <a:pt x="1266940" y="550843"/>
                </a:cubicBezTo>
                <a:lnTo>
                  <a:pt x="1266940" y="550843"/>
                </a:lnTo>
                <a:cubicBezTo>
                  <a:pt x="1266940" y="854862"/>
                  <a:pt x="1020115" y="1101687"/>
                  <a:pt x="716096" y="1101687"/>
                </a:cubicBezTo>
                <a:lnTo>
                  <a:pt x="550843" y="1101687"/>
                </a:lnTo>
                <a:cubicBezTo>
                  <a:pt x="246825" y="1101687"/>
                  <a:pt x="0" y="854862"/>
                  <a:pt x="0" y="550843"/>
                </a:cubicBezTo>
                <a:lnTo>
                  <a:pt x="0" y="550843"/>
                </a:lnTo>
                <a:cubicBezTo>
                  <a:pt x="0" y="246825"/>
                  <a:pt x="246825" y="0"/>
                  <a:pt x="55084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765494" y="93645"/>
            <a:ext cx="661012" cy="661012"/>
          </a:xfrm>
          <a:custGeom>
            <a:rect b="b" l="l" r="r" t="t"/>
            <a:pathLst>
              <a:path extrusionOk="0" h="661012" w="661012">
                <a:moveTo>
                  <a:pt x="82627" y="82627"/>
                </a:moveTo>
                <a:cubicBezTo>
                  <a:pt x="82627" y="59775"/>
                  <a:pt x="64165" y="41313"/>
                  <a:pt x="41313" y="41313"/>
                </a:cubicBezTo>
                <a:cubicBezTo>
                  <a:pt x="18462" y="41313"/>
                  <a:pt x="0" y="59775"/>
                  <a:pt x="0" y="82627"/>
                </a:cubicBezTo>
                <a:lnTo>
                  <a:pt x="0" y="516416"/>
                </a:lnTo>
                <a:cubicBezTo>
                  <a:pt x="0" y="573480"/>
                  <a:pt x="46219" y="619699"/>
                  <a:pt x="103283" y="619699"/>
                </a:cubicBezTo>
                <a:lnTo>
                  <a:pt x="619699" y="619699"/>
                </a:lnTo>
                <a:cubicBezTo>
                  <a:pt x="642550" y="619699"/>
                  <a:pt x="661012" y="601237"/>
                  <a:pt x="661012" y="578386"/>
                </a:cubicBezTo>
                <a:cubicBezTo>
                  <a:pt x="661012" y="555534"/>
                  <a:pt x="642550" y="537072"/>
                  <a:pt x="619699" y="537072"/>
                </a:cubicBezTo>
                <a:lnTo>
                  <a:pt x="103283" y="537072"/>
                </a:lnTo>
                <a:cubicBezTo>
                  <a:pt x="91922" y="537072"/>
                  <a:pt x="82627" y="527777"/>
                  <a:pt x="82627" y="516416"/>
                </a:cubicBezTo>
                <a:lnTo>
                  <a:pt x="82627" y="82627"/>
                </a:lnTo>
                <a:close/>
                <a:moveTo>
                  <a:pt x="607563" y="194430"/>
                </a:moveTo>
                <a:cubicBezTo>
                  <a:pt x="623701" y="178293"/>
                  <a:pt x="623701" y="152084"/>
                  <a:pt x="607563" y="135946"/>
                </a:cubicBezTo>
                <a:cubicBezTo>
                  <a:pt x="591425" y="119808"/>
                  <a:pt x="565217" y="119808"/>
                  <a:pt x="549079" y="135946"/>
                </a:cubicBezTo>
                <a:lnTo>
                  <a:pt x="413133" y="272022"/>
                </a:lnTo>
                <a:lnTo>
                  <a:pt x="339027" y="198045"/>
                </a:lnTo>
                <a:cubicBezTo>
                  <a:pt x="322889" y="181907"/>
                  <a:pt x="296681" y="181907"/>
                  <a:pt x="280543" y="198045"/>
                </a:cubicBezTo>
                <a:lnTo>
                  <a:pt x="156603" y="321985"/>
                </a:lnTo>
                <a:cubicBezTo>
                  <a:pt x="140465" y="338123"/>
                  <a:pt x="140465" y="364331"/>
                  <a:pt x="156603" y="380469"/>
                </a:cubicBezTo>
                <a:cubicBezTo>
                  <a:pt x="172741" y="396607"/>
                  <a:pt x="198949" y="396607"/>
                  <a:pt x="215087" y="380469"/>
                </a:cubicBezTo>
                <a:lnTo>
                  <a:pt x="309849" y="285707"/>
                </a:lnTo>
                <a:lnTo>
                  <a:pt x="383955" y="359813"/>
                </a:lnTo>
                <a:cubicBezTo>
                  <a:pt x="400093" y="375951"/>
                  <a:pt x="426301" y="375951"/>
                  <a:pt x="442439" y="359813"/>
                </a:cubicBezTo>
                <a:lnTo>
                  <a:pt x="607692" y="194560"/>
                </a:lnTo>
                <a:close/>
              </a:path>
            </a:pathLst>
          </a:custGeom>
          <a:solidFill>
            <a:srgbClr val="00D4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1817783" y="1268778"/>
            <a:ext cx="8556434" cy="1652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5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Data-Driven Decisions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5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for Growth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1927952" y="3215091"/>
            <a:ext cx="8336096" cy="1074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5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analysis reveals a profitable, well-performing business with clear opportunities for diversification and channel optimization. Leverage these insights to drive strategic initiatives and sustainable growth.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3220368" y="5100811"/>
            <a:ext cx="1714959" cy="1182477"/>
          </a:xfrm>
          <a:custGeom>
            <a:rect b="b" l="l" r="r" t="t"/>
            <a:pathLst>
              <a:path extrusionOk="0" h="1182477" w="1714959">
                <a:moveTo>
                  <a:pt x="73444" y="0"/>
                </a:moveTo>
                <a:lnTo>
                  <a:pt x="1641515" y="0"/>
                </a:lnTo>
                <a:cubicBezTo>
                  <a:pt x="1682077" y="0"/>
                  <a:pt x="1714959" y="32882"/>
                  <a:pt x="1714959" y="73444"/>
                </a:cubicBezTo>
                <a:lnTo>
                  <a:pt x="1714959" y="1109033"/>
                </a:lnTo>
                <a:cubicBezTo>
                  <a:pt x="1714959" y="1149595"/>
                  <a:pt x="1682077" y="1182477"/>
                  <a:pt x="1641515" y="1182477"/>
                </a:cubicBezTo>
                <a:lnTo>
                  <a:pt x="73444" y="1182477"/>
                </a:lnTo>
                <a:cubicBezTo>
                  <a:pt x="32882" y="1182477"/>
                  <a:pt x="0" y="1149595"/>
                  <a:pt x="0" y="1109033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3334209" y="5324819"/>
            <a:ext cx="1487277" cy="44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7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$8bn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3407655" y="5838940"/>
            <a:ext cx="1340386" cy="22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Sales Revenue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5237832" y="5100811"/>
            <a:ext cx="1714959" cy="1182477"/>
          </a:xfrm>
          <a:custGeom>
            <a:rect b="b" l="l" r="r" t="t"/>
            <a:pathLst>
              <a:path extrusionOk="0" h="1182477" w="1714959">
                <a:moveTo>
                  <a:pt x="73444" y="0"/>
                </a:moveTo>
                <a:lnTo>
                  <a:pt x="1641515" y="0"/>
                </a:lnTo>
                <a:cubicBezTo>
                  <a:pt x="1682077" y="0"/>
                  <a:pt x="1714959" y="32882"/>
                  <a:pt x="1714959" y="73444"/>
                </a:cubicBezTo>
                <a:lnTo>
                  <a:pt x="1714959" y="1109033"/>
                </a:lnTo>
                <a:cubicBezTo>
                  <a:pt x="1714959" y="1149595"/>
                  <a:pt x="1682077" y="1182477"/>
                  <a:pt x="1641515" y="1182477"/>
                </a:cubicBezTo>
                <a:lnTo>
                  <a:pt x="73444" y="1182477"/>
                </a:lnTo>
                <a:cubicBezTo>
                  <a:pt x="32882" y="1182477"/>
                  <a:pt x="0" y="1149595"/>
                  <a:pt x="0" y="1109033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5351673" y="5324819"/>
            <a:ext cx="1487277" cy="44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7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57%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5425119" y="5838940"/>
            <a:ext cx="1340386" cy="22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Profit Margin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7255296" y="5100811"/>
            <a:ext cx="1714959" cy="1182477"/>
          </a:xfrm>
          <a:custGeom>
            <a:rect b="b" l="l" r="r" t="t"/>
            <a:pathLst>
              <a:path extrusionOk="0" h="1182477" w="1714959">
                <a:moveTo>
                  <a:pt x="73444" y="0"/>
                </a:moveTo>
                <a:lnTo>
                  <a:pt x="1641515" y="0"/>
                </a:lnTo>
                <a:cubicBezTo>
                  <a:pt x="1682077" y="0"/>
                  <a:pt x="1714959" y="32882"/>
                  <a:pt x="1714959" y="73444"/>
                </a:cubicBezTo>
                <a:lnTo>
                  <a:pt x="1714959" y="1109033"/>
                </a:lnTo>
                <a:cubicBezTo>
                  <a:pt x="1714959" y="1149595"/>
                  <a:pt x="1682077" y="1182477"/>
                  <a:pt x="1641515" y="1182477"/>
                </a:cubicBezTo>
                <a:lnTo>
                  <a:pt x="73444" y="1182477"/>
                </a:lnTo>
                <a:cubicBezTo>
                  <a:pt x="32882" y="1182477"/>
                  <a:pt x="0" y="1149595"/>
                  <a:pt x="0" y="1109033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cap="flat" cmpd="sng" w="10150">
            <a:solidFill>
              <a:srgbClr val="00D4A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7369137" y="5324819"/>
            <a:ext cx="1487277" cy="44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70">
                <a:solidFill>
                  <a:srgbClr val="00D4AA"/>
                </a:solidFill>
                <a:latin typeface="Liter"/>
                <a:ea typeface="Liter"/>
                <a:cs typeface="Liter"/>
                <a:sym typeface="Liter"/>
              </a:rPr>
              <a:t>37M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7442582" y="5838940"/>
            <a:ext cx="1340386" cy="22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7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Units Sold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996892" y="6507295"/>
            <a:ext cx="2102386" cy="257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1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 for your attention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2026-02-10T11:13:35Z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{"Label":"Sales Performance Analysis Report","ContentProducer":"001191110108MACG2KBH8F10000","ProduceID":"19c47346-8212-8d18-8000-00009e35cc89","ReservedCode1":"","ContentPropagator":"001191110108MACG2KBH8F20000","PropagateID":"19c47346-8212-8d18-8000-000</vt:lpwstr>
  </property>
</Properties>
</file>